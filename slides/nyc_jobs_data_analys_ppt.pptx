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hunk Five" charset="1" panose="00000500000000000000"/>
      <p:regular r:id="rId19"/>
    </p:embeddedFont>
    <p:embeddedFont>
      <p:font typeface="Tex Gyre Bonum" charset="1" panose="00000500000000000000"/>
      <p:regular r:id="rId20"/>
    </p:embeddedFont>
    <p:embeddedFont>
      <p:font typeface="Open Sauce Bold" charset="1" panose="00000800000000000000"/>
      <p:regular r:id="rId21"/>
    </p:embeddedFont>
    <p:embeddedFont>
      <p:font typeface="Open Sauce" charset="1" panose="00000500000000000000"/>
      <p:regular r:id="rId22"/>
    </p:embeddedFont>
    <p:embeddedFont>
      <p:font typeface="Open Sauce Bold Italics" charset="1" panose="00000800000000000000"/>
      <p:regular r:id="rId23"/>
    </p:embeddedFont>
    <p:embeddedFont>
      <p:font typeface="Open Sauce Light" charset="1" panose="000004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jpeg" Type="http://schemas.openxmlformats.org/officeDocument/2006/relationships/image"/><Relationship Id="rId5" Target="../media/image8.jpeg" Type="http://schemas.openxmlformats.org/officeDocument/2006/relationships/image"/><Relationship Id="rId6"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8.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2.jpeg" Type="http://schemas.openxmlformats.org/officeDocument/2006/relationships/image"/><Relationship Id="rId7"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4.jpeg" Type="http://schemas.openxmlformats.org/officeDocument/2006/relationships/image"/><Relationship Id="rId5" Target="../media/image25.jpe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952500"/>
            <a:ext cx="6322355" cy="4531017"/>
          </a:xfrm>
          <a:prstGeom prst="rect">
            <a:avLst/>
          </a:prstGeom>
        </p:spPr>
        <p:txBody>
          <a:bodyPr anchor="t" rtlCol="false" tIns="0" lIns="0" bIns="0" rIns="0">
            <a:spAutoFit/>
          </a:bodyPr>
          <a:lstStyle/>
          <a:p>
            <a:pPr algn="l" marL="0" indent="0" lvl="0">
              <a:lnSpc>
                <a:spcPts val="8598"/>
              </a:lnSpc>
            </a:pPr>
            <a:r>
              <a:rPr lang="en-US" sz="7816">
                <a:solidFill>
                  <a:srgbClr val="000000"/>
                </a:solidFill>
                <a:latin typeface="Chunk Five"/>
                <a:ea typeface="Chunk Five"/>
                <a:cs typeface="Chunk Five"/>
                <a:sym typeface="Chunk Five"/>
              </a:rPr>
              <a:t>NYC Jobs Data Analysis Project</a:t>
            </a:r>
          </a:p>
        </p:txBody>
      </p:sp>
      <p:sp>
        <p:nvSpPr>
          <p:cNvPr name="TextBox 4" id="4"/>
          <p:cNvSpPr txBox="true"/>
          <p:nvPr/>
        </p:nvSpPr>
        <p:spPr>
          <a:xfrm rot="0">
            <a:off x="1028700" y="7041231"/>
            <a:ext cx="7426216" cy="1485900"/>
          </a:xfrm>
          <a:prstGeom prst="rect">
            <a:avLst/>
          </a:prstGeom>
        </p:spPr>
        <p:txBody>
          <a:bodyPr anchor="t" rtlCol="false" tIns="0" lIns="0" bIns="0" rIns="0">
            <a:spAutoFit/>
          </a:bodyPr>
          <a:lstStyle/>
          <a:p>
            <a:pPr algn="ctr">
              <a:lnSpc>
                <a:spcPts val="3943"/>
              </a:lnSpc>
              <a:spcBef>
                <a:spcPct val="0"/>
              </a:spcBef>
            </a:pPr>
            <a:r>
              <a:rPr lang="en-US" sz="3286">
                <a:solidFill>
                  <a:srgbClr val="000000"/>
                </a:solidFill>
                <a:latin typeface="Tex Gyre Bonum"/>
                <a:ea typeface="Tex Gyre Bonum"/>
                <a:cs typeface="Tex Gyre Bonum"/>
                <a:sym typeface="Tex Gyre Bonum"/>
              </a:rPr>
              <a:t>Evaluating Business Opportunities for New Data Analytics Agency in NYC Public Sector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5140577"/>
            <a:ext cx="5146423" cy="514642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32859"/>
            </a:solidFill>
          </p:spPr>
        </p:sp>
        <p:sp>
          <p:nvSpPr>
            <p:cNvPr name="Freeform 4" id="4"/>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2"/>
              <a:stretch>
                <a:fillRect l="-11" t="0" r="-11" b="0"/>
              </a:stretch>
            </a:blipFill>
          </p:spPr>
        </p:sp>
      </p:grpSp>
      <p:grpSp>
        <p:nvGrpSpPr>
          <p:cNvPr name="Group 5" id="5"/>
          <p:cNvGrpSpPr>
            <a:grpSpLocks noChangeAspect="true"/>
          </p:cNvGrpSpPr>
          <p:nvPr/>
        </p:nvGrpSpPr>
        <p:grpSpPr>
          <a:xfrm rot="0">
            <a:off x="0" y="0"/>
            <a:ext cx="5146423" cy="5146423"/>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032859"/>
            </a:solidFill>
          </p:spPr>
        </p:sp>
        <p:sp>
          <p:nvSpPr>
            <p:cNvPr name="Freeform 7" id="7"/>
            <p:cNvSpPr/>
            <p:nvPr/>
          </p:nvSpPr>
          <p:spPr>
            <a:xfrm flipH="false" flipV="false" rot="0">
              <a:off x="227013" y="334588"/>
              <a:ext cx="5895974" cy="5627484"/>
            </a:xfrm>
            <a:custGeom>
              <a:avLst/>
              <a:gdLst/>
              <a:ahLst/>
              <a:cxnLst/>
              <a:rect r="r" b="b" t="t" l="l"/>
              <a:pathLst>
                <a:path h="5627484" w="5895974">
                  <a:moveTo>
                    <a:pt x="2947987" y="4502"/>
                  </a:moveTo>
                  <a:cubicBezTo>
                    <a:pt x="1941349" y="0"/>
                    <a:pt x="1009246" y="534452"/>
                    <a:pt x="504623" y="1405483"/>
                  </a:cubicBezTo>
                  <a:cubicBezTo>
                    <a:pt x="0" y="2276514"/>
                    <a:pt x="0" y="3350970"/>
                    <a:pt x="504623" y="4222001"/>
                  </a:cubicBezTo>
                  <a:cubicBezTo>
                    <a:pt x="1009246" y="5093033"/>
                    <a:pt x="1941349" y="5627484"/>
                    <a:pt x="2947987" y="5622982"/>
                  </a:cubicBezTo>
                  <a:cubicBezTo>
                    <a:pt x="3954625" y="5627484"/>
                    <a:pt x="4886728" y="5093033"/>
                    <a:pt x="5391351" y="4222001"/>
                  </a:cubicBezTo>
                  <a:cubicBezTo>
                    <a:pt x="5895974" y="3350970"/>
                    <a:pt x="5895974" y="2276514"/>
                    <a:pt x="5391351" y="1405483"/>
                  </a:cubicBezTo>
                  <a:cubicBezTo>
                    <a:pt x="4886728" y="534452"/>
                    <a:pt x="3954625" y="0"/>
                    <a:pt x="2947987" y="4502"/>
                  </a:cubicBezTo>
                  <a:close/>
                </a:path>
              </a:pathLst>
            </a:custGeom>
            <a:blipFill>
              <a:blip r:embed="rId3"/>
              <a:stretch>
                <a:fillRect l="-38887" t="0" r="-38887" b="0"/>
              </a:stretch>
            </a:blipFill>
          </p:spPr>
        </p:sp>
      </p:grpSp>
      <p:sp>
        <p:nvSpPr>
          <p:cNvPr name="Freeform 8" id="8"/>
          <p:cNvSpPr/>
          <p:nvPr/>
        </p:nvSpPr>
        <p:spPr>
          <a:xfrm flipH="false" flipV="false" rot="0">
            <a:off x="0" y="745150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0" y="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785190" y="1602740"/>
            <a:ext cx="10474110" cy="6237957"/>
            <a:chOff x="0" y="0"/>
            <a:chExt cx="13965480" cy="8317276"/>
          </a:xfrm>
        </p:grpSpPr>
        <p:sp>
          <p:nvSpPr>
            <p:cNvPr name="TextBox 11" id="11"/>
            <p:cNvSpPr txBox="true"/>
            <p:nvPr/>
          </p:nvSpPr>
          <p:spPr>
            <a:xfrm rot="0">
              <a:off x="0" y="2418549"/>
              <a:ext cx="13965480" cy="5898727"/>
            </a:xfrm>
            <a:prstGeom prst="rect">
              <a:avLst/>
            </a:prstGeom>
          </p:spPr>
          <p:txBody>
            <a:bodyPr anchor="t" rtlCol="false" tIns="0" lIns="0" bIns="0" rIns="0">
              <a:spAutoFit/>
            </a:bodyPr>
            <a:lstStyle/>
            <a:p>
              <a:pPr algn="l">
                <a:lnSpc>
                  <a:spcPts val="3640"/>
                </a:lnSpc>
              </a:pPr>
            </a:p>
            <a:p>
              <a:pPr algn="l" marL="496571" indent="-248285" lvl="1">
                <a:lnSpc>
                  <a:spcPts val="3220"/>
                </a:lnSpc>
                <a:buFont typeface="Arial"/>
                <a:buChar char="•"/>
              </a:pPr>
              <a:r>
                <a:rPr lang="en-US" b="true" sz="2300">
                  <a:solidFill>
                    <a:srgbClr val="000000"/>
                  </a:solidFill>
                  <a:latin typeface="Open Sauce Bold"/>
                  <a:ea typeface="Open Sauce Bold"/>
                  <a:cs typeface="Open Sauce Bold"/>
                  <a:sym typeface="Open Sauce Bold"/>
                </a:rPr>
                <a:t>Who we are:</a:t>
              </a:r>
              <a:r>
                <a:rPr lang="en-US" sz="2300">
                  <a:solidFill>
                    <a:srgbClr val="000000"/>
                  </a:solidFill>
                  <a:latin typeface="Open Sauce"/>
                  <a:ea typeface="Open Sauce"/>
                  <a:cs typeface="Open Sauce"/>
                  <a:sym typeface="Open Sauce"/>
                </a:rPr>
                <a:t> Newly graduated data engineers aiming to launch a data analytics company targeting NYC’s public sector.</a:t>
              </a:r>
            </a:p>
            <a:p>
              <a:pPr algn="l">
                <a:lnSpc>
                  <a:spcPts val="3220"/>
                </a:lnSpc>
              </a:pPr>
            </a:p>
            <a:p>
              <a:pPr algn="l" marL="496571" indent="-248285" lvl="1">
                <a:lnSpc>
                  <a:spcPts val="3220"/>
                </a:lnSpc>
                <a:buFont typeface="Arial"/>
                <a:buChar char="•"/>
              </a:pPr>
              <a:r>
                <a:rPr lang="en-US" b="true" sz="2300">
                  <a:solidFill>
                    <a:srgbClr val="000000"/>
                  </a:solidFill>
                  <a:latin typeface="Open Sauce Bold"/>
                  <a:ea typeface="Open Sauce Bold"/>
                  <a:cs typeface="Open Sauce Bold"/>
                  <a:sym typeface="Open Sauce Bold"/>
                </a:rPr>
                <a:t>Why NYC jobs data?</a:t>
              </a:r>
            </a:p>
            <a:p>
              <a:pPr algn="l" marL="993141" indent="-331047" lvl="2">
                <a:lnSpc>
                  <a:spcPts val="3220"/>
                </a:lnSpc>
                <a:buFont typeface="Arial"/>
                <a:buChar char="⚬"/>
              </a:pPr>
              <a:r>
                <a:rPr lang="en-US" sz="2300">
                  <a:solidFill>
                    <a:srgbClr val="000000"/>
                  </a:solidFill>
                  <a:latin typeface="Open Sauce"/>
                  <a:ea typeface="Open Sauce"/>
                  <a:cs typeface="Open Sauce"/>
                  <a:sym typeface="Open Sauce"/>
                </a:rPr>
                <a:t>NYC government is a major employer for data professionals.</a:t>
              </a:r>
            </a:p>
            <a:p>
              <a:pPr algn="l" marL="993141" indent="-331047" lvl="2">
                <a:lnSpc>
                  <a:spcPts val="3220"/>
                </a:lnSpc>
                <a:buFont typeface="Arial"/>
                <a:buChar char="⚬"/>
              </a:pPr>
              <a:r>
                <a:rPr lang="en-US" sz="2300">
                  <a:solidFill>
                    <a:srgbClr val="000000"/>
                  </a:solidFill>
                  <a:latin typeface="Open Sauce"/>
                  <a:ea typeface="Open Sauce"/>
                  <a:cs typeface="Open Sauce"/>
                  <a:sym typeface="Open Sauce"/>
                </a:rPr>
                <a:t>Understanding trends helps us evaluate business opportunities.</a:t>
              </a:r>
            </a:p>
            <a:p>
              <a:pPr algn="l">
                <a:lnSpc>
                  <a:spcPts val="3220"/>
                </a:lnSpc>
              </a:pPr>
            </a:p>
            <a:p>
              <a:pPr algn="l" marL="496571" indent="-248285" lvl="1">
                <a:lnSpc>
                  <a:spcPts val="3220"/>
                </a:lnSpc>
                <a:buFont typeface="Arial"/>
                <a:buChar char="•"/>
              </a:pPr>
              <a:r>
                <a:rPr lang="en-US" b="true" sz="2300">
                  <a:solidFill>
                    <a:srgbClr val="000000"/>
                  </a:solidFill>
                  <a:latin typeface="Open Sauce Bold"/>
                  <a:ea typeface="Open Sauce Bold"/>
                  <a:cs typeface="Open Sauce Bold"/>
                  <a:sym typeface="Open Sauce Bold"/>
                </a:rPr>
                <a:t>Project goal:</a:t>
              </a:r>
            </a:p>
            <a:p>
              <a:pPr algn="l" marL="993141" indent="-331047" lvl="2">
                <a:lnSpc>
                  <a:spcPts val="3220"/>
                </a:lnSpc>
                <a:buFont typeface="Arial"/>
                <a:buChar char="⚬"/>
              </a:pPr>
              <a:r>
                <a:rPr lang="en-US" sz="2300">
                  <a:solidFill>
                    <a:srgbClr val="000000"/>
                  </a:solidFill>
                  <a:latin typeface="Open Sauce"/>
                  <a:ea typeface="Open Sauce"/>
                  <a:cs typeface="Open Sauce"/>
                  <a:sym typeface="Open Sauce"/>
                </a:rPr>
                <a:t>Use public jobs data to uncover market needs, skill trends, and salary benchmarks.</a:t>
              </a:r>
            </a:p>
          </p:txBody>
        </p:sp>
        <p:sp>
          <p:nvSpPr>
            <p:cNvPr name="TextBox 12" id="12"/>
            <p:cNvSpPr txBox="true"/>
            <p:nvPr/>
          </p:nvSpPr>
          <p:spPr>
            <a:xfrm rot="0">
              <a:off x="0" y="-66675"/>
              <a:ext cx="13965480" cy="2014015"/>
            </a:xfrm>
            <a:prstGeom prst="rect">
              <a:avLst/>
            </a:prstGeom>
          </p:spPr>
          <p:txBody>
            <a:bodyPr anchor="t" rtlCol="false" tIns="0" lIns="0" bIns="0" rIns="0">
              <a:spAutoFit/>
            </a:bodyPr>
            <a:lstStyle/>
            <a:p>
              <a:pPr algn="l" marL="0" indent="0" lvl="0">
                <a:lnSpc>
                  <a:spcPts val="5600"/>
                </a:lnSpc>
                <a:spcBef>
                  <a:spcPct val="0"/>
                </a:spcBef>
              </a:pPr>
              <a:r>
                <a:rPr lang="en-US" sz="5000">
                  <a:solidFill>
                    <a:srgbClr val="000000"/>
                  </a:solidFill>
                  <a:latin typeface="Chunk Five"/>
                  <a:ea typeface="Chunk Five"/>
                  <a:cs typeface="Chunk Five"/>
                  <a:sym typeface="Chunk Five"/>
                </a:rPr>
                <a:t>Proj</a:t>
              </a:r>
              <a:r>
                <a:rPr lang="en-US" sz="5000" strike="noStrike" u="none">
                  <a:solidFill>
                    <a:srgbClr val="000000"/>
                  </a:solidFill>
                  <a:latin typeface="Chunk Five"/>
                  <a:ea typeface="Chunk Five"/>
                  <a:cs typeface="Chunk Five"/>
                  <a:sym typeface="Chunk Five"/>
                </a:rPr>
                <a:t>e</a:t>
              </a:r>
              <a:r>
                <a:rPr lang="en-US" sz="5000" strike="noStrike" u="none">
                  <a:solidFill>
                    <a:srgbClr val="000000"/>
                  </a:solidFill>
                  <a:latin typeface="Chunk Five"/>
                  <a:ea typeface="Chunk Five"/>
                  <a:cs typeface="Chunk Five"/>
                  <a:sym typeface="Chunk Five"/>
                </a:rPr>
                <a:t>ct</a:t>
              </a:r>
              <a:r>
                <a:rPr lang="en-US" sz="5000" strike="noStrike" u="none">
                  <a:solidFill>
                    <a:srgbClr val="000000"/>
                  </a:solidFill>
                  <a:latin typeface="Chunk Five"/>
                  <a:ea typeface="Chunk Five"/>
                  <a:cs typeface="Chunk Five"/>
                  <a:sym typeface="Chunk Five"/>
                </a:rPr>
                <a:t> </a:t>
              </a:r>
              <a:r>
                <a:rPr lang="en-US" sz="5000" strike="noStrike" u="none">
                  <a:solidFill>
                    <a:srgbClr val="000000"/>
                  </a:solidFill>
                  <a:latin typeface="Chunk Five"/>
                  <a:ea typeface="Chunk Five"/>
                  <a:cs typeface="Chunk Five"/>
                  <a:sym typeface="Chunk Five"/>
                </a:rPr>
                <a:t>M</a:t>
              </a:r>
              <a:r>
                <a:rPr lang="en-US" sz="5000" strike="noStrike" u="none">
                  <a:solidFill>
                    <a:srgbClr val="000000"/>
                  </a:solidFill>
                  <a:latin typeface="Chunk Five"/>
                  <a:ea typeface="Chunk Five"/>
                  <a:cs typeface="Chunk Five"/>
                  <a:sym typeface="Chunk Five"/>
                </a:rPr>
                <a:t>ot</a:t>
              </a:r>
              <a:r>
                <a:rPr lang="en-US" sz="5000" strike="noStrike" u="none">
                  <a:solidFill>
                    <a:srgbClr val="000000"/>
                  </a:solidFill>
                  <a:latin typeface="Chunk Five"/>
                  <a:ea typeface="Chunk Five"/>
                  <a:cs typeface="Chunk Five"/>
                  <a:sym typeface="Chunk Five"/>
                </a:rPr>
                <a:t>iv</a:t>
              </a:r>
              <a:r>
                <a:rPr lang="en-US" sz="5000" strike="noStrike" u="none">
                  <a:solidFill>
                    <a:srgbClr val="000000"/>
                  </a:solidFill>
                  <a:latin typeface="Chunk Five"/>
                  <a:ea typeface="Chunk Five"/>
                  <a:cs typeface="Chunk Five"/>
                  <a:sym typeface="Chunk Five"/>
                </a:rPr>
                <a:t>a</a:t>
              </a:r>
              <a:r>
                <a:rPr lang="en-US" sz="5000" strike="noStrike" u="none">
                  <a:solidFill>
                    <a:srgbClr val="000000"/>
                  </a:solidFill>
                  <a:latin typeface="Chunk Five"/>
                  <a:ea typeface="Chunk Five"/>
                  <a:cs typeface="Chunk Five"/>
                  <a:sym typeface="Chunk Five"/>
                </a:rPr>
                <a:t>ti</a:t>
              </a:r>
              <a:r>
                <a:rPr lang="en-US" sz="5000" strike="noStrike" u="none">
                  <a:solidFill>
                    <a:srgbClr val="000000"/>
                  </a:solidFill>
                  <a:latin typeface="Chunk Five"/>
                  <a:ea typeface="Chunk Five"/>
                  <a:cs typeface="Chunk Five"/>
                  <a:sym typeface="Chunk Five"/>
                </a:rPr>
                <a:t>o</a:t>
              </a:r>
              <a:r>
                <a:rPr lang="en-US" sz="5000" strike="noStrike" u="none">
                  <a:solidFill>
                    <a:srgbClr val="000000"/>
                  </a:solidFill>
                  <a:latin typeface="Chunk Five"/>
                  <a:ea typeface="Chunk Five"/>
                  <a:cs typeface="Chunk Five"/>
                  <a:sym typeface="Chunk Five"/>
                </a:rPr>
                <a:t>n</a:t>
              </a:r>
              <a:r>
                <a:rPr lang="en-US" sz="5000" strike="noStrike" u="none">
                  <a:solidFill>
                    <a:srgbClr val="000000"/>
                  </a:solidFill>
                  <a:latin typeface="Chunk Five"/>
                  <a:ea typeface="Chunk Five"/>
                  <a:cs typeface="Chunk Five"/>
                  <a:sym typeface="Chunk Five"/>
                </a:rPr>
                <a:t> </a:t>
              </a:r>
              <a:r>
                <a:rPr lang="en-US" sz="5000" strike="noStrike" u="none">
                  <a:solidFill>
                    <a:srgbClr val="000000"/>
                  </a:solidFill>
                  <a:latin typeface="Chunk Five"/>
                  <a:ea typeface="Chunk Five"/>
                  <a:cs typeface="Chunk Five"/>
                  <a:sym typeface="Chunk Five"/>
                </a:rPr>
                <a:t>&amp;</a:t>
              </a:r>
              <a:r>
                <a:rPr lang="en-US" sz="5000" strike="noStrike" u="none">
                  <a:solidFill>
                    <a:srgbClr val="000000"/>
                  </a:solidFill>
                  <a:latin typeface="Chunk Five"/>
                  <a:ea typeface="Chunk Five"/>
                  <a:cs typeface="Chunk Five"/>
                  <a:sym typeface="Chunk Five"/>
                </a:rPr>
                <a:t> </a:t>
              </a:r>
              <a:r>
                <a:rPr lang="en-US" sz="5000" strike="noStrike" u="none">
                  <a:solidFill>
                    <a:srgbClr val="000000"/>
                  </a:solidFill>
                  <a:latin typeface="Chunk Five"/>
                  <a:ea typeface="Chunk Five"/>
                  <a:cs typeface="Chunk Five"/>
                  <a:sym typeface="Chunk Five"/>
                </a:rPr>
                <a:t>Bus</a:t>
              </a:r>
              <a:r>
                <a:rPr lang="en-US" sz="5000" strike="noStrike" u="none">
                  <a:solidFill>
                    <a:srgbClr val="000000"/>
                  </a:solidFill>
                  <a:latin typeface="Chunk Five"/>
                  <a:ea typeface="Chunk Five"/>
                  <a:cs typeface="Chunk Five"/>
                  <a:sym typeface="Chunk Five"/>
                </a:rPr>
                <a:t>in</a:t>
              </a:r>
              <a:r>
                <a:rPr lang="en-US" sz="5000" strike="noStrike" u="none">
                  <a:solidFill>
                    <a:srgbClr val="000000"/>
                  </a:solidFill>
                  <a:latin typeface="Chunk Five"/>
                  <a:ea typeface="Chunk Five"/>
                  <a:cs typeface="Chunk Five"/>
                  <a:sym typeface="Chunk Five"/>
                </a:rPr>
                <a:t>ess</a:t>
              </a:r>
              <a:r>
                <a:rPr lang="en-US" sz="5000" strike="noStrike" u="none">
                  <a:solidFill>
                    <a:srgbClr val="000000"/>
                  </a:solidFill>
                  <a:latin typeface="Chunk Five"/>
                  <a:ea typeface="Chunk Five"/>
                  <a:cs typeface="Chunk Five"/>
                  <a:sym typeface="Chunk Five"/>
                </a:rPr>
                <a:t> </a:t>
              </a:r>
              <a:r>
                <a:rPr lang="en-US" sz="5000" strike="noStrike" u="none">
                  <a:solidFill>
                    <a:srgbClr val="000000"/>
                  </a:solidFill>
                  <a:latin typeface="Chunk Five"/>
                  <a:ea typeface="Chunk Five"/>
                  <a:cs typeface="Chunk Five"/>
                  <a:sym typeface="Chunk Five"/>
                </a:rPr>
                <a:t>Fo</a:t>
              </a:r>
              <a:r>
                <a:rPr lang="en-US" sz="5000" strike="noStrike" u="none">
                  <a:solidFill>
                    <a:srgbClr val="000000"/>
                  </a:solidFill>
                  <a:latin typeface="Chunk Five"/>
                  <a:ea typeface="Chunk Five"/>
                  <a:cs typeface="Chunk Five"/>
                  <a:sym typeface="Chunk Five"/>
                </a:rPr>
                <a:t>c</a:t>
              </a:r>
              <a:r>
                <a:rPr lang="en-US" sz="5000" strike="noStrike" u="none">
                  <a:solidFill>
                    <a:srgbClr val="000000"/>
                  </a:solidFill>
                  <a:latin typeface="Chunk Five"/>
                  <a:ea typeface="Chunk Five"/>
                  <a:cs typeface="Chunk Five"/>
                  <a:sym typeface="Chunk Five"/>
                </a:rPr>
                <a:t>u</a:t>
              </a:r>
              <a:r>
                <a:rPr lang="en-US" sz="5000" strike="noStrike" u="none">
                  <a:solidFill>
                    <a:srgbClr val="000000"/>
                  </a:solidFill>
                  <a:latin typeface="Chunk Five"/>
                  <a:ea typeface="Chunk Five"/>
                  <a:cs typeface="Chunk Five"/>
                  <a:sym typeface="Chunk Five"/>
                </a:rPr>
                <a:t>s</a:t>
              </a:r>
            </a:p>
          </p:txBody>
        </p:sp>
      </p:grpSp>
      <p:sp>
        <p:nvSpPr>
          <p:cNvPr name="Freeform 13" id="13"/>
          <p:cNvSpPr/>
          <p:nvPr/>
        </p:nvSpPr>
        <p:spPr>
          <a:xfrm flipH="false" flipV="false" rot="0">
            <a:off x="3617764" y="3620678"/>
            <a:ext cx="3039799" cy="3039799"/>
          </a:xfrm>
          <a:custGeom>
            <a:avLst/>
            <a:gdLst/>
            <a:ahLst/>
            <a:cxnLst/>
            <a:rect r="r" b="b" t="t" l="l"/>
            <a:pathLst>
              <a:path h="3039799" w="3039799">
                <a:moveTo>
                  <a:pt x="0" y="0"/>
                </a:moveTo>
                <a:lnTo>
                  <a:pt x="3039799" y="0"/>
                </a:lnTo>
                <a:lnTo>
                  <a:pt x="3039799" y="3039798"/>
                </a:lnTo>
                <a:lnTo>
                  <a:pt x="0" y="3039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5140577"/>
            <a:ext cx="5146423" cy="514642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32859"/>
            </a:solidFill>
          </p:spPr>
        </p:sp>
        <p:sp>
          <p:nvSpPr>
            <p:cNvPr name="Freeform 4" id="4"/>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2"/>
              <a:stretch>
                <a:fillRect l="-25063" t="0" r="-25063" b="0"/>
              </a:stretch>
            </a:blipFill>
          </p:spPr>
        </p:sp>
      </p:grpSp>
      <p:grpSp>
        <p:nvGrpSpPr>
          <p:cNvPr name="Group 5" id="5"/>
          <p:cNvGrpSpPr>
            <a:grpSpLocks noChangeAspect="true"/>
          </p:cNvGrpSpPr>
          <p:nvPr/>
        </p:nvGrpSpPr>
        <p:grpSpPr>
          <a:xfrm rot="0">
            <a:off x="0" y="0"/>
            <a:ext cx="5146423" cy="5146423"/>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032859"/>
            </a:solidFill>
          </p:spPr>
        </p:sp>
        <p:sp>
          <p:nvSpPr>
            <p:cNvPr name="Freeform 7" id="7"/>
            <p:cNvSpPr/>
            <p:nvPr/>
          </p:nvSpPr>
          <p:spPr>
            <a:xfrm flipH="false" flipV="false" rot="0">
              <a:off x="227013" y="334588"/>
              <a:ext cx="5895974" cy="5627484"/>
            </a:xfrm>
            <a:custGeom>
              <a:avLst/>
              <a:gdLst/>
              <a:ahLst/>
              <a:cxnLst/>
              <a:rect r="r" b="b" t="t" l="l"/>
              <a:pathLst>
                <a:path h="5627484" w="5895974">
                  <a:moveTo>
                    <a:pt x="2947987" y="4502"/>
                  </a:moveTo>
                  <a:cubicBezTo>
                    <a:pt x="1941349" y="0"/>
                    <a:pt x="1009246" y="534452"/>
                    <a:pt x="504623" y="1405483"/>
                  </a:cubicBezTo>
                  <a:cubicBezTo>
                    <a:pt x="0" y="2276514"/>
                    <a:pt x="0" y="3350970"/>
                    <a:pt x="504623" y="4222001"/>
                  </a:cubicBezTo>
                  <a:cubicBezTo>
                    <a:pt x="1009246" y="5093033"/>
                    <a:pt x="1941349" y="5627484"/>
                    <a:pt x="2947987" y="5622982"/>
                  </a:cubicBezTo>
                  <a:cubicBezTo>
                    <a:pt x="3954625" y="5627484"/>
                    <a:pt x="4886728" y="5093033"/>
                    <a:pt x="5391351" y="4222001"/>
                  </a:cubicBezTo>
                  <a:cubicBezTo>
                    <a:pt x="5895974" y="3350970"/>
                    <a:pt x="5895974" y="2276514"/>
                    <a:pt x="5391351" y="1405483"/>
                  </a:cubicBezTo>
                  <a:cubicBezTo>
                    <a:pt x="4886728" y="534452"/>
                    <a:pt x="3954625" y="0"/>
                    <a:pt x="2947987" y="4502"/>
                  </a:cubicBezTo>
                  <a:close/>
                </a:path>
              </a:pathLst>
            </a:custGeom>
            <a:blipFill>
              <a:blip r:embed="rId3"/>
              <a:stretch>
                <a:fillRect l="-24712" t="0" r="-24712" b="0"/>
              </a:stretch>
            </a:blipFill>
          </p:spPr>
        </p:sp>
      </p:grpSp>
      <p:sp>
        <p:nvSpPr>
          <p:cNvPr name="Freeform 8" id="8"/>
          <p:cNvSpPr/>
          <p:nvPr/>
        </p:nvSpPr>
        <p:spPr>
          <a:xfrm flipH="false" flipV="false" rot="0">
            <a:off x="0" y="745150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0" y="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815476" y="1866900"/>
            <a:ext cx="10443824" cy="6258907"/>
            <a:chOff x="0" y="0"/>
            <a:chExt cx="13925099" cy="8345209"/>
          </a:xfrm>
        </p:grpSpPr>
        <p:sp>
          <p:nvSpPr>
            <p:cNvPr name="TextBox 11" id="11"/>
            <p:cNvSpPr txBox="true"/>
            <p:nvPr/>
          </p:nvSpPr>
          <p:spPr>
            <a:xfrm rot="0">
              <a:off x="0" y="1673264"/>
              <a:ext cx="13925099" cy="6671945"/>
            </a:xfrm>
            <a:prstGeom prst="rect">
              <a:avLst/>
            </a:prstGeom>
          </p:spPr>
          <p:txBody>
            <a:bodyPr anchor="t" rtlCol="false" tIns="0" lIns="0" bIns="0" rIns="0">
              <a:spAutoFit/>
            </a:bodyPr>
            <a:lstStyle/>
            <a:p>
              <a:pPr algn="l" marL="0" indent="0" lvl="0">
                <a:lnSpc>
                  <a:spcPts val="3359"/>
                </a:lnSpc>
              </a:pPr>
              <a:r>
                <a:rPr lang="en-US" sz="2400">
                  <a:solidFill>
                    <a:srgbClr val="000000"/>
                  </a:solidFill>
                  <a:latin typeface="Open Sauce"/>
                  <a:ea typeface="Open Sauce"/>
                  <a:cs typeface="Open Sauce"/>
                  <a:sym typeface="Open Sauce"/>
                </a:rPr>
                <a:t>In this project, we will explore </a:t>
              </a:r>
              <a:r>
                <a:rPr lang="en-US" b="true" sz="2400">
                  <a:solidFill>
                    <a:srgbClr val="000000"/>
                  </a:solidFill>
                  <a:latin typeface="Open Sauce Bold"/>
                  <a:ea typeface="Open Sauce Bold"/>
                  <a:cs typeface="Open Sauce Bold"/>
                  <a:sym typeface="Open Sauce Bold"/>
                </a:rPr>
                <a:t>vital inquiries</a:t>
              </a:r>
              <a:r>
                <a:rPr lang="en-US" sz="2400">
                  <a:solidFill>
                    <a:srgbClr val="000000"/>
                  </a:solidFill>
                  <a:latin typeface="Open Sauce"/>
                  <a:ea typeface="Open Sauce"/>
                  <a:cs typeface="Open Sauce"/>
                  <a:sym typeface="Open Sauce"/>
                </a:rPr>
                <a:t> that drive our data analysis. Understanding the public job market trends, sector demand, and employment requirements in NYC will provide valuable insights.</a:t>
              </a:r>
            </a:p>
            <a:p>
              <a:pPr algn="l" marL="0" indent="0" lvl="0">
                <a:lnSpc>
                  <a:spcPts val="3359"/>
                </a:lnSpc>
              </a:pP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How in-demand are data roles and data engineering skills in NYC government jobs?</a:t>
              </a: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Which agencies/departments are hiring for these roles?</a:t>
              </a: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What is the salary landscape for these jobs?</a:t>
              </a: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What skill trends and requirements are there?</a:t>
              </a: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How have postings for these roles evolved over time?</a:t>
              </a: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What are the contract types, seniority, and job categories for data roles?</a:t>
              </a:r>
            </a:p>
          </p:txBody>
        </p:sp>
        <p:sp>
          <p:nvSpPr>
            <p:cNvPr name="TextBox 12" id="12"/>
            <p:cNvSpPr txBox="true"/>
            <p:nvPr/>
          </p:nvSpPr>
          <p:spPr>
            <a:xfrm rot="0">
              <a:off x="0" y="-85725"/>
              <a:ext cx="13925099" cy="1297305"/>
            </a:xfrm>
            <a:prstGeom prst="rect">
              <a:avLst/>
            </a:prstGeom>
          </p:spPr>
          <p:txBody>
            <a:bodyPr anchor="t" rtlCol="false" tIns="0" lIns="0" bIns="0" rIns="0">
              <a:spAutoFit/>
            </a:bodyPr>
            <a:lstStyle/>
            <a:p>
              <a:pPr algn="l" marL="0" indent="0" lvl="0">
                <a:lnSpc>
                  <a:spcPts val="6720"/>
                </a:lnSpc>
                <a:spcBef>
                  <a:spcPct val="0"/>
                </a:spcBef>
              </a:pPr>
              <a:r>
                <a:rPr lang="en-US" sz="6000" strike="noStrike" u="none">
                  <a:solidFill>
                    <a:srgbClr val="000000"/>
                  </a:solidFill>
                  <a:latin typeface="Chunk Five"/>
                  <a:ea typeface="Chunk Five"/>
                  <a:cs typeface="Chunk Five"/>
                  <a:sym typeface="Chunk Five"/>
                </a:rPr>
                <a:t>Key Research Questions</a:t>
              </a:r>
            </a:p>
          </p:txBody>
        </p:sp>
      </p:grpSp>
      <p:sp>
        <p:nvSpPr>
          <p:cNvPr name="Freeform 13" id="13"/>
          <p:cNvSpPr/>
          <p:nvPr/>
        </p:nvSpPr>
        <p:spPr>
          <a:xfrm flipH="false" flipV="false" rot="0">
            <a:off x="3617764" y="3620678"/>
            <a:ext cx="3039799" cy="3039799"/>
          </a:xfrm>
          <a:custGeom>
            <a:avLst/>
            <a:gdLst/>
            <a:ahLst/>
            <a:cxnLst/>
            <a:rect r="r" b="b" t="t" l="l"/>
            <a:pathLst>
              <a:path h="3039799" w="3039799">
                <a:moveTo>
                  <a:pt x="0" y="0"/>
                </a:moveTo>
                <a:lnTo>
                  <a:pt x="3039799" y="0"/>
                </a:lnTo>
                <a:lnTo>
                  <a:pt x="3039799" y="3039798"/>
                </a:lnTo>
                <a:lnTo>
                  <a:pt x="0" y="3039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5140577"/>
            <a:ext cx="5146423" cy="514642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32859"/>
            </a:solidFill>
          </p:spPr>
        </p:sp>
        <p:sp>
          <p:nvSpPr>
            <p:cNvPr name="Freeform 4" id="4"/>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2"/>
              <a:stretch>
                <a:fillRect l="-25063" t="0" r="-25063" b="0"/>
              </a:stretch>
            </a:blipFill>
          </p:spPr>
        </p:sp>
      </p:grpSp>
      <p:grpSp>
        <p:nvGrpSpPr>
          <p:cNvPr name="Group 5" id="5"/>
          <p:cNvGrpSpPr>
            <a:grpSpLocks noChangeAspect="true"/>
          </p:cNvGrpSpPr>
          <p:nvPr/>
        </p:nvGrpSpPr>
        <p:grpSpPr>
          <a:xfrm rot="0">
            <a:off x="0" y="0"/>
            <a:ext cx="5146423" cy="5146423"/>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032859"/>
            </a:solidFill>
          </p:spPr>
        </p:sp>
        <p:sp>
          <p:nvSpPr>
            <p:cNvPr name="Freeform 7" id="7"/>
            <p:cNvSpPr/>
            <p:nvPr/>
          </p:nvSpPr>
          <p:spPr>
            <a:xfrm flipH="false" flipV="false" rot="0">
              <a:off x="227013" y="334588"/>
              <a:ext cx="5895974" cy="5627484"/>
            </a:xfrm>
            <a:custGeom>
              <a:avLst/>
              <a:gdLst/>
              <a:ahLst/>
              <a:cxnLst/>
              <a:rect r="r" b="b" t="t" l="l"/>
              <a:pathLst>
                <a:path h="5627484" w="5895974">
                  <a:moveTo>
                    <a:pt x="2947987" y="4502"/>
                  </a:moveTo>
                  <a:cubicBezTo>
                    <a:pt x="1941349" y="0"/>
                    <a:pt x="1009246" y="534452"/>
                    <a:pt x="504623" y="1405483"/>
                  </a:cubicBezTo>
                  <a:cubicBezTo>
                    <a:pt x="0" y="2276514"/>
                    <a:pt x="0" y="3350970"/>
                    <a:pt x="504623" y="4222001"/>
                  </a:cubicBezTo>
                  <a:cubicBezTo>
                    <a:pt x="1009246" y="5093033"/>
                    <a:pt x="1941349" y="5627484"/>
                    <a:pt x="2947987" y="5622982"/>
                  </a:cubicBezTo>
                  <a:cubicBezTo>
                    <a:pt x="3954625" y="5627484"/>
                    <a:pt x="4886728" y="5093033"/>
                    <a:pt x="5391351" y="4222001"/>
                  </a:cubicBezTo>
                  <a:cubicBezTo>
                    <a:pt x="5895974" y="3350970"/>
                    <a:pt x="5895974" y="2276514"/>
                    <a:pt x="5391351" y="1405483"/>
                  </a:cubicBezTo>
                  <a:cubicBezTo>
                    <a:pt x="4886728" y="534452"/>
                    <a:pt x="3954625" y="0"/>
                    <a:pt x="2947987" y="4502"/>
                  </a:cubicBezTo>
                  <a:close/>
                </a:path>
              </a:pathLst>
            </a:custGeom>
            <a:blipFill>
              <a:blip r:embed="rId3"/>
              <a:stretch>
                <a:fillRect l="-24712" t="0" r="-24712" b="0"/>
              </a:stretch>
            </a:blipFill>
          </p:spPr>
        </p:sp>
      </p:grpSp>
      <p:sp>
        <p:nvSpPr>
          <p:cNvPr name="Freeform 8" id="8"/>
          <p:cNvSpPr/>
          <p:nvPr/>
        </p:nvSpPr>
        <p:spPr>
          <a:xfrm flipH="false" flipV="false" rot="0">
            <a:off x="0" y="745150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0" y="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7017380" y="924560"/>
            <a:ext cx="10241920" cy="8148671"/>
            <a:chOff x="0" y="0"/>
            <a:chExt cx="13655893" cy="10864895"/>
          </a:xfrm>
        </p:grpSpPr>
        <p:sp>
          <p:nvSpPr>
            <p:cNvPr name="TextBox 11" id="11"/>
            <p:cNvSpPr txBox="true"/>
            <p:nvPr/>
          </p:nvSpPr>
          <p:spPr>
            <a:xfrm rot="0">
              <a:off x="0" y="2803571"/>
              <a:ext cx="13655893" cy="8061324"/>
            </a:xfrm>
            <a:prstGeom prst="rect">
              <a:avLst/>
            </a:prstGeom>
          </p:spPr>
          <p:txBody>
            <a:bodyPr anchor="t" rtlCol="false" tIns="0" lIns="0" bIns="0" rIns="0">
              <a:spAutoFit/>
            </a:bodyPr>
            <a:lstStyle/>
            <a:p>
              <a:pPr algn="l" marL="0" indent="0" lvl="0">
                <a:lnSpc>
                  <a:spcPts val="3500"/>
                </a:lnSpc>
              </a:pPr>
              <a:r>
                <a:rPr lang="en-US" sz="2500">
                  <a:solidFill>
                    <a:srgbClr val="000000"/>
                  </a:solidFill>
                  <a:latin typeface="Open Sauce"/>
                  <a:ea typeface="Open Sauce"/>
                  <a:cs typeface="Open Sauce"/>
                  <a:sym typeface="Open Sauce"/>
                </a:rPr>
                <a:t>The initial challenges involved handling </a:t>
              </a:r>
              <a:r>
                <a:rPr lang="en-US" b="true" sz="2500">
                  <a:solidFill>
                    <a:srgbClr val="000000"/>
                  </a:solidFill>
                  <a:latin typeface="Open Sauce Bold"/>
                  <a:ea typeface="Open Sauce Bold"/>
                  <a:cs typeface="Open Sauce Bold"/>
                  <a:sym typeface="Open Sauce Bold"/>
                </a:rPr>
                <a:t>missing values, inconsistencies</a:t>
              </a:r>
              <a:r>
                <a:rPr lang="en-US" sz="2500">
                  <a:solidFill>
                    <a:srgbClr val="000000"/>
                  </a:solidFill>
                  <a:latin typeface="Open Sauce"/>
                  <a:ea typeface="Open Sauce"/>
                  <a:cs typeface="Open Sauce"/>
                  <a:sym typeface="Open Sauce"/>
                </a:rPr>
                <a:t>, and duplicate entries. These issues required robust techniques to ensure accurate analysis and insights from the NYC Jobs dataset.</a:t>
              </a:r>
            </a:p>
            <a:p>
              <a:pPr algn="l" marL="0" indent="0" lvl="0">
                <a:lnSpc>
                  <a:spcPts val="3500"/>
                </a:lnSpc>
              </a:pPr>
            </a:p>
            <a:p>
              <a:pPr algn="l" marL="0" indent="0" lvl="0">
                <a:lnSpc>
                  <a:spcPts val="2800"/>
                </a:lnSpc>
              </a:pPr>
              <a:r>
                <a:rPr lang="en-US" b="true" sz="2000">
                  <a:solidFill>
                    <a:srgbClr val="000000"/>
                  </a:solidFill>
                  <a:latin typeface="Open Sauce Bold"/>
                  <a:ea typeface="Open Sauce Bold"/>
                  <a:cs typeface="Open Sauce Bold"/>
                  <a:sym typeface="Open Sauce Bold"/>
                </a:rPr>
                <a:t>Dataset &amp; Initial Challenges:</a:t>
              </a:r>
            </a:p>
            <a:p>
              <a:pPr algn="l" marL="0" indent="0" lvl="0">
                <a:lnSpc>
                  <a:spcPts val="2800"/>
                </a:lnSpc>
              </a:pPr>
            </a:p>
            <a:p>
              <a:pPr algn="l" marL="431807" indent="-215904" lvl="1">
                <a:lnSpc>
                  <a:spcPts val="2800"/>
                </a:lnSpc>
                <a:buFont typeface="Arial"/>
                <a:buChar char="•"/>
              </a:pPr>
              <a:r>
                <a:rPr lang="en-US" sz="2000">
                  <a:solidFill>
                    <a:srgbClr val="000000"/>
                  </a:solidFill>
                  <a:latin typeface="Open Sauce"/>
                  <a:ea typeface="Open Sauce"/>
                  <a:cs typeface="Open Sauce"/>
                  <a:sym typeface="Open Sauce"/>
                </a:rPr>
                <a:t>Original dataset: Two raw CSV files from NYC jobs portal (~11,000 postings, 30 columns each).</a:t>
              </a:r>
            </a:p>
            <a:p>
              <a:pPr algn="l" marL="431807" indent="-215904" lvl="1">
                <a:lnSpc>
                  <a:spcPts val="2800"/>
                </a:lnSpc>
                <a:buFont typeface="Arial"/>
                <a:buChar char="•"/>
              </a:pPr>
              <a:r>
                <a:rPr lang="en-US" sz="2000">
                  <a:solidFill>
                    <a:srgbClr val="000000"/>
                  </a:solidFill>
                  <a:latin typeface="Open Sauce"/>
                  <a:ea typeface="Open Sauce"/>
                  <a:cs typeface="Open Sauce"/>
                  <a:sym typeface="Open Sauce"/>
                </a:rPr>
                <a:t>Major obstacles:</a:t>
              </a:r>
            </a:p>
            <a:p>
              <a:pPr algn="l" marL="863614" indent="-287871" lvl="2">
                <a:lnSpc>
                  <a:spcPts val="2800"/>
                </a:lnSpc>
                <a:buFont typeface="Arial"/>
                <a:buChar char="⚬"/>
              </a:pPr>
              <a:r>
                <a:rPr lang="en-US" sz="2000">
                  <a:solidFill>
                    <a:srgbClr val="000000"/>
                  </a:solidFill>
                  <a:latin typeface="Open Sauce"/>
                  <a:ea typeface="Open Sauce"/>
                  <a:cs typeface="Open Sauce"/>
                  <a:sym typeface="Open Sauce"/>
                </a:rPr>
                <a:t>Extensive missing/null values—especially in ‘preferred_skills’ (1933 nulls).</a:t>
              </a:r>
            </a:p>
            <a:p>
              <a:pPr algn="l" marL="863614" indent="-287871" lvl="2">
                <a:lnSpc>
                  <a:spcPts val="2800"/>
                </a:lnSpc>
                <a:buFont typeface="Arial"/>
                <a:buChar char="⚬"/>
              </a:pPr>
              <a:r>
                <a:rPr lang="en-US" sz="2000">
                  <a:solidFill>
                    <a:srgbClr val="000000"/>
                  </a:solidFill>
                  <a:latin typeface="Open Sauce"/>
                  <a:ea typeface="Open Sauce"/>
                  <a:cs typeface="Open Sauce"/>
                  <a:sym typeface="Open Sauce"/>
                </a:rPr>
                <a:t>Inconsistent formats, especially in date columns: some values as dates, others as general text.</a:t>
              </a:r>
            </a:p>
            <a:p>
              <a:pPr algn="l" marL="863614" indent="-287871" lvl="2">
                <a:lnSpc>
                  <a:spcPts val="2800"/>
                </a:lnSpc>
                <a:buFont typeface="Arial"/>
                <a:buChar char="⚬"/>
              </a:pPr>
              <a:r>
                <a:rPr lang="en-US" sz="2000">
                  <a:solidFill>
                    <a:srgbClr val="000000"/>
                  </a:solidFill>
                  <a:latin typeface="Open Sauce"/>
                  <a:ea typeface="Open Sauce"/>
                  <a:cs typeface="Open Sauce"/>
                  <a:sym typeface="Open Sauce"/>
                </a:rPr>
                <a:t>Duplicates by job ID and messy text in job descriptions/skills.</a:t>
              </a:r>
            </a:p>
            <a:p>
              <a:pPr algn="l" marL="431807" indent="-215904" lvl="1">
                <a:lnSpc>
                  <a:spcPts val="2800"/>
                </a:lnSpc>
                <a:buFont typeface="Arial"/>
                <a:buChar char="•"/>
              </a:pPr>
              <a:r>
                <a:rPr lang="en-US" sz="2000">
                  <a:solidFill>
                    <a:srgbClr val="000000"/>
                  </a:solidFill>
                  <a:latin typeface="Open Sauce"/>
                  <a:ea typeface="Open Sauce"/>
                  <a:cs typeface="Open Sauce"/>
                  <a:sym typeface="Open Sauce"/>
                </a:rPr>
                <a:t>First step: Standardize date columns in CSVs to avoid wrangling headaches.</a:t>
              </a:r>
            </a:p>
            <a:p>
              <a:pPr algn="l" marL="0" indent="0" lvl="0">
                <a:lnSpc>
                  <a:spcPts val="2800"/>
                </a:lnSpc>
              </a:pPr>
            </a:p>
          </p:txBody>
        </p:sp>
        <p:sp>
          <p:nvSpPr>
            <p:cNvPr name="TextBox 12" id="12"/>
            <p:cNvSpPr txBox="true"/>
            <p:nvPr/>
          </p:nvSpPr>
          <p:spPr>
            <a:xfrm rot="0">
              <a:off x="0" y="-85725"/>
              <a:ext cx="13655893" cy="2427612"/>
            </a:xfrm>
            <a:prstGeom prst="rect">
              <a:avLst/>
            </a:prstGeom>
          </p:spPr>
          <p:txBody>
            <a:bodyPr anchor="t" rtlCol="false" tIns="0" lIns="0" bIns="0" rIns="0">
              <a:spAutoFit/>
            </a:bodyPr>
            <a:lstStyle/>
            <a:p>
              <a:pPr algn="l" marL="0" indent="0" lvl="0">
                <a:lnSpc>
                  <a:spcPts val="6720"/>
                </a:lnSpc>
                <a:spcBef>
                  <a:spcPct val="0"/>
                </a:spcBef>
              </a:pPr>
              <a:r>
                <a:rPr lang="en-US" sz="6000" strike="noStrike" u="none">
                  <a:solidFill>
                    <a:srgbClr val="000000"/>
                  </a:solidFill>
                  <a:latin typeface="Chunk Five"/>
                  <a:ea typeface="Chunk Five"/>
                  <a:cs typeface="Chunk Five"/>
                  <a:sym typeface="Chunk Five"/>
                </a:rPr>
                <a:t>Understanding Dataset Complexity</a:t>
              </a:r>
            </a:p>
          </p:txBody>
        </p:sp>
      </p:grpSp>
      <p:sp>
        <p:nvSpPr>
          <p:cNvPr name="Freeform 13" id="13"/>
          <p:cNvSpPr/>
          <p:nvPr/>
        </p:nvSpPr>
        <p:spPr>
          <a:xfrm flipH="false" flipV="false" rot="0">
            <a:off x="3617764" y="3620678"/>
            <a:ext cx="3039799" cy="3039799"/>
          </a:xfrm>
          <a:custGeom>
            <a:avLst/>
            <a:gdLst/>
            <a:ahLst/>
            <a:cxnLst/>
            <a:rect r="r" b="b" t="t" l="l"/>
            <a:pathLst>
              <a:path h="3039799" w="3039799">
                <a:moveTo>
                  <a:pt x="0" y="0"/>
                </a:moveTo>
                <a:lnTo>
                  <a:pt x="3039799" y="0"/>
                </a:lnTo>
                <a:lnTo>
                  <a:pt x="3039799" y="3039798"/>
                </a:lnTo>
                <a:lnTo>
                  <a:pt x="0" y="3039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15820727" y="5856451"/>
            <a:ext cx="1476694" cy="1476694"/>
          </a:xfrm>
          <a:custGeom>
            <a:avLst/>
            <a:gdLst/>
            <a:ahLst/>
            <a:cxnLst/>
            <a:rect r="r" b="b" t="t" l="l"/>
            <a:pathLst>
              <a:path h="1476694" w="1476694">
                <a:moveTo>
                  <a:pt x="0" y="0"/>
                </a:moveTo>
                <a:lnTo>
                  <a:pt x="1476694" y="0"/>
                </a:lnTo>
                <a:lnTo>
                  <a:pt x="1476694" y="1476694"/>
                </a:lnTo>
                <a:lnTo>
                  <a:pt x="0" y="1476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5069" y="6021899"/>
            <a:ext cx="1476694" cy="1476694"/>
          </a:xfrm>
          <a:custGeom>
            <a:avLst/>
            <a:gdLst/>
            <a:ahLst/>
            <a:cxnLst/>
            <a:rect r="r" b="b" t="t" l="l"/>
            <a:pathLst>
              <a:path h="1476694" w="1476694">
                <a:moveTo>
                  <a:pt x="0" y="0"/>
                </a:moveTo>
                <a:lnTo>
                  <a:pt x="1476694" y="0"/>
                </a:lnTo>
                <a:lnTo>
                  <a:pt x="1476694" y="1476694"/>
                </a:lnTo>
                <a:lnTo>
                  <a:pt x="0" y="1476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48453" y="2214784"/>
            <a:ext cx="1476694" cy="1476694"/>
          </a:xfrm>
          <a:custGeom>
            <a:avLst/>
            <a:gdLst/>
            <a:ahLst/>
            <a:cxnLst/>
            <a:rect r="r" b="b" t="t" l="l"/>
            <a:pathLst>
              <a:path h="1476694" w="1476694">
                <a:moveTo>
                  <a:pt x="0" y="0"/>
                </a:moveTo>
                <a:lnTo>
                  <a:pt x="1476694" y="0"/>
                </a:lnTo>
                <a:lnTo>
                  <a:pt x="1476694" y="1476694"/>
                </a:lnTo>
                <a:lnTo>
                  <a:pt x="0" y="1476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762853" y="2316460"/>
            <a:ext cx="1476694" cy="1476694"/>
          </a:xfrm>
          <a:custGeom>
            <a:avLst/>
            <a:gdLst/>
            <a:ahLst/>
            <a:cxnLst/>
            <a:rect r="r" b="b" t="t" l="l"/>
            <a:pathLst>
              <a:path h="1476694" w="1476694">
                <a:moveTo>
                  <a:pt x="0" y="0"/>
                </a:moveTo>
                <a:lnTo>
                  <a:pt x="1476694" y="0"/>
                </a:lnTo>
                <a:lnTo>
                  <a:pt x="1476694" y="1476695"/>
                </a:lnTo>
                <a:lnTo>
                  <a:pt x="0" y="14766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20225" y="952500"/>
            <a:ext cx="13247551" cy="990606"/>
          </a:xfrm>
          <a:prstGeom prst="rect">
            <a:avLst/>
          </a:prstGeom>
        </p:spPr>
        <p:txBody>
          <a:bodyPr anchor="t" rtlCol="false" tIns="0" lIns="0" bIns="0" rIns="0">
            <a:spAutoFit/>
          </a:bodyPr>
          <a:lstStyle/>
          <a:p>
            <a:pPr algn="ctr" marL="0" indent="0" lvl="0">
              <a:lnSpc>
                <a:spcPts val="6600"/>
              </a:lnSpc>
            </a:pPr>
            <a:r>
              <a:rPr lang="en-US" sz="6000">
                <a:solidFill>
                  <a:srgbClr val="000000"/>
                </a:solidFill>
                <a:latin typeface="Chunk Five"/>
                <a:ea typeface="Chunk Five"/>
                <a:cs typeface="Chunk Five"/>
                <a:sym typeface="Chunk Five"/>
              </a:rPr>
              <a:t>Data Wrangling &amp; Cleaning Steps</a:t>
            </a:r>
          </a:p>
        </p:txBody>
      </p:sp>
      <p:sp>
        <p:nvSpPr>
          <p:cNvPr name="Freeform 7" id="7"/>
          <p:cNvSpPr/>
          <p:nvPr/>
        </p:nvSpPr>
        <p:spPr>
          <a:xfrm flipH="false" flipV="false" rot="0">
            <a:off x="-295385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95385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33414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946144" y="3277028"/>
            <a:ext cx="3732943" cy="3732943"/>
          </a:xfrm>
          <a:custGeom>
            <a:avLst/>
            <a:gdLst/>
            <a:ahLst/>
            <a:cxnLst/>
            <a:rect r="r" b="b" t="t" l="l"/>
            <a:pathLst>
              <a:path h="3732943" w="3732943">
                <a:moveTo>
                  <a:pt x="0" y="0"/>
                </a:moveTo>
                <a:lnTo>
                  <a:pt x="3732944" y="0"/>
                </a:lnTo>
                <a:lnTo>
                  <a:pt x="3732944" y="3732944"/>
                </a:lnTo>
                <a:lnTo>
                  <a:pt x="0" y="37329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501200" y="3277028"/>
            <a:ext cx="3732943" cy="3732943"/>
          </a:xfrm>
          <a:custGeom>
            <a:avLst/>
            <a:gdLst/>
            <a:ahLst/>
            <a:cxnLst/>
            <a:rect r="r" b="b" t="t" l="l"/>
            <a:pathLst>
              <a:path h="3732943" w="3732943">
                <a:moveTo>
                  <a:pt x="0" y="0"/>
                </a:moveTo>
                <a:lnTo>
                  <a:pt x="3732944" y="0"/>
                </a:lnTo>
                <a:lnTo>
                  <a:pt x="3732944" y="3732944"/>
                </a:lnTo>
                <a:lnTo>
                  <a:pt x="0" y="37329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33414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3074604" y="2278360"/>
            <a:ext cx="12380290" cy="6278880"/>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Open Sauce Bold"/>
                <a:ea typeface="Open Sauce Bold"/>
                <a:cs typeface="Open Sauce Bold"/>
                <a:sym typeface="Open Sauce Bold"/>
              </a:rPr>
              <a:t>Approach:</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Merge and audit datasets, check for missing values and duplicates.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Precise separation of roles into three DataFrames: by business title, by skill keywords, and ‘Others’.</a:t>
            </a:r>
          </a:p>
          <a:p>
            <a:pPr algn="l">
              <a:lnSpc>
                <a:spcPts val="2520"/>
              </a:lnSpc>
            </a:pPr>
          </a:p>
          <a:p>
            <a:pPr algn="l">
              <a:lnSpc>
                <a:spcPts val="2520"/>
              </a:lnSpc>
            </a:pPr>
            <a:r>
              <a:rPr lang="en-US" b="true" sz="1800">
                <a:solidFill>
                  <a:srgbClr val="000000"/>
                </a:solidFill>
                <a:latin typeface="Open Sauce Bold"/>
                <a:ea typeface="Open Sauce Bold"/>
                <a:cs typeface="Open Sauce Bold"/>
                <a:sym typeface="Open Sauce Bold"/>
              </a:rPr>
              <a:t>Major da</a:t>
            </a:r>
            <a:r>
              <a:rPr lang="en-US" b="true" sz="1800">
                <a:solidFill>
                  <a:srgbClr val="000000"/>
                </a:solidFill>
                <a:latin typeface="Open Sauce Bold"/>
                <a:ea typeface="Open Sauce Bold"/>
                <a:cs typeface="Open Sauce Bold"/>
                <a:sym typeface="Open Sauce Bold"/>
              </a:rPr>
              <a:t>ta cleaning challenges: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Extensive missing data (e.g., up to 40% nulls in ‘Preferred Skills’).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Duplicates by job ID.</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Inconsistent column names and formats.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Messy text/punctuation in skills and titles.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‘preferred_skills’ column contains long, inconsistent text (not lists).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Skills can appear in many forms: “PowerBI”, “power bi”, “SQL/bi”, “power-bi”, “bi”, etc.</a:t>
            </a:r>
          </a:p>
          <a:p>
            <a:pPr algn="l">
              <a:lnSpc>
                <a:spcPts val="2520"/>
              </a:lnSpc>
            </a:pPr>
          </a:p>
          <a:p>
            <a:pPr algn="l">
              <a:lnSpc>
                <a:spcPts val="2520"/>
              </a:lnSpc>
            </a:pPr>
            <a:r>
              <a:rPr lang="en-US" b="true" sz="1800">
                <a:solidFill>
                  <a:srgbClr val="000000"/>
                </a:solidFill>
                <a:latin typeface="Open Sauce Bold"/>
                <a:ea typeface="Open Sauce Bold"/>
                <a:cs typeface="Open Sauce Bold"/>
                <a:sym typeface="Open Sauce Bold"/>
              </a:rPr>
              <a:t>Uniq</a:t>
            </a:r>
            <a:r>
              <a:rPr lang="en-US" b="true" sz="1800">
                <a:solidFill>
                  <a:srgbClr val="000000"/>
                </a:solidFill>
                <a:latin typeface="Open Sauce Bold"/>
                <a:ea typeface="Open Sauce Bold"/>
                <a:cs typeface="Open Sauce Bold"/>
                <a:sym typeface="Open Sauce Bold"/>
              </a:rPr>
              <a:t>ue cleaning approaches: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Custom functions for column standardization, normalize case and date normalization</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regex-based filtering for punctuation removal and handle delimiters (regex: </a:t>
            </a:r>
            <a:r>
              <a:rPr lang="en-US" b="true" sz="1800" i="true">
                <a:solidFill>
                  <a:srgbClr val="000000"/>
                </a:solidFill>
                <a:latin typeface="Open Sauce Bold Italics"/>
                <a:ea typeface="Open Sauce Bold Italics"/>
                <a:cs typeface="Open Sauce Bold Italics"/>
                <a:sym typeface="Open Sauce Bold Italics"/>
              </a:rPr>
              <a:t>r'\b(\w+)(-|/)(\w+)\b'</a:t>
            </a:r>
            <a:r>
              <a:rPr lang="en-US" sz="1800">
                <a:solidFill>
                  <a:srgbClr val="000000"/>
                </a:solidFill>
                <a:latin typeface="Open Sauce"/>
                <a:ea typeface="Open Sauce"/>
                <a:cs typeface="Open Sauce"/>
                <a:sym typeface="Open Sauce"/>
              </a:rPr>
              <a:t>).</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Modular outputs split by role and skills.</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Careful handling to avoid losing distinctions (e.g., not merging “SQL/Oracle” into “SQLOracle”).</a:t>
            </a:r>
          </a:p>
          <a:p>
            <a:pPr algn="l" marL="388620" indent="-194310" lvl="1">
              <a:lnSpc>
                <a:spcPts val="2520"/>
              </a:lnSpc>
              <a:buFont typeface="Arial"/>
              <a:buChar char="•"/>
            </a:pPr>
            <a:r>
              <a:rPr lang="en-US" sz="1800">
                <a:solidFill>
                  <a:srgbClr val="000000"/>
                </a:solidFill>
                <a:latin typeface="Open Sauce"/>
                <a:ea typeface="Open Sauce"/>
                <a:cs typeface="Open Sauce"/>
                <a:sym typeface="Open Sauce"/>
              </a:rPr>
              <a:t>Visual: Show before/after examples of cleaned skill text.</a:t>
            </a:r>
          </a:p>
          <a:p>
            <a:pPr algn="l">
              <a:lnSpc>
                <a:spcPts val="2520"/>
              </a:lnSpc>
            </a:pPr>
          </a:p>
          <a:p>
            <a:pPr algn="l">
              <a:lnSpc>
                <a:spcPts val="2520"/>
              </a:lnSpc>
            </a:pPr>
            <a:r>
              <a:rPr lang="en-US" sz="1800">
                <a:solidFill>
                  <a:srgbClr val="000000"/>
                </a:solidFill>
                <a:latin typeface="Open Sauce"/>
                <a:ea typeface="Open Sauce"/>
                <a:cs typeface="Open Sauce"/>
                <a:sym typeface="Open Sauce"/>
              </a:rPr>
              <a:t>Use of YAML config for fully dynamic I/O paths.</a:t>
            </a:r>
          </a:p>
        </p:txBody>
      </p:sp>
      <p:sp>
        <p:nvSpPr>
          <p:cNvPr name="TextBox 14" id="14"/>
          <p:cNvSpPr txBox="true"/>
          <p:nvPr/>
        </p:nvSpPr>
        <p:spPr>
          <a:xfrm rot="0">
            <a:off x="13361655" y="7460493"/>
            <a:ext cx="3181439" cy="339852"/>
          </a:xfrm>
          <a:prstGeom prst="rect">
            <a:avLst/>
          </a:prstGeom>
        </p:spPr>
        <p:txBody>
          <a:bodyPr anchor="t" rtlCol="false" tIns="0" lIns="0" bIns="0" rIns="0">
            <a:spAutoFit/>
          </a:bodyPr>
          <a:lstStyle/>
          <a:p>
            <a:pPr algn="ctr" marL="0" indent="0" lvl="0">
              <a:lnSpc>
                <a:spcPts val="2793"/>
              </a:lnSpc>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16819866" y="3678290"/>
            <a:ext cx="2936267" cy="2936267"/>
          </a:xfrm>
          <a:custGeom>
            <a:avLst/>
            <a:gdLst/>
            <a:ahLst/>
            <a:cxnLst/>
            <a:rect r="r" b="b" t="t" l="l"/>
            <a:pathLst>
              <a:path h="2936267" w="2936267">
                <a:moveTo>
                  <a:pt x="0" y="0"/>
                </a:moveTo>
                <a:lnTo>
                  <a:pt x="2936268" y="0"/>
                </a:lnTo>
                <a:lnTo>
                  <a:pt x="2936268" y="2936267"/>
                </a:lnTo>
                <a:lnTo>
                  <a:pt x="0" y="2936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3150336" y="0"/>
            <a:ext cx="5137664" cy="5137664"/>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6350000" y="3175000"/>
                  </a:moveTo>
                  <a:cubicBezTo>
                    <a:pt x="6350000" y="1421130"/>
                    <a:pt x="4928870" y="0"/>
                    <a:pt x="3175000" y="0"/>
                  </a:cubicBezTo>
                  <a:lnTo>
                    <a:pt x="0" y="0"/>
                  </a:lnTo>
                  <a:lnTo>
                    <a:pt x="0" y="3175000"/>
                  </a:lnTo>
                  <a:cubicBezTo>
                    <a:pt x="0" y="4928870"/>
                    <a:pt x="1421130" y="6350000"/>
                    <a:pt x="3175000" y="6350000"/>
                  </a:cubicBezTo>
                  <a:cubicBezTo>
                    <a:pt x="4928870" y="6350000"/>
                    <a:pt x="6350000" y="4928870"/>
                    <a:pt x="6350000" y="3175000"/>
                  </a:cubicBezTo>
                  <a:close/>
                </a:path>
              </a:pathLst>
            </a:custGeom>
            <a:solidFill>
              <a:srgbClr val="032859"/>
            </a:solidFill>
          </p:spPr>
        </p:sp>
        <p:sp>
          <p:nvSpPr>
            <p:cNvPr name="Freeform 5" id="5"/>
            <p:cNvSpPr/>
            <p:nvPr/>
          </p:nvSpPr>
          <p:spPr>
            <a:xfrm flipH="false" flipV="false" rot="0">
              <a:off x="199010" y="359986"/>
              <a:ext cx="5898640" cy="5630028"/>
            </a:xfrm>
            <a:custGeom>
              <a:avLst/>
              <a:gdLst/>
              <a:ahLst/>
              <a:cxnLst/>
              <a:rect r="r" b="b" t="t" l="l"/>
              <a:pathLst>
                <a:path h="5630028" w="5898640">
                  <a:moveTo>
                    <a:pt x="2949320" y="4504"/>
                  </a:moveTo>
                  <a:cubicBezTo>
                    <a:pt x="1942227" y="0"/>
                    <a:pt x="1009702" y="534693"/>
                    <a:pt x="504851" y="1406118"/>
                  </a:cubicBezTo>
                  <a:cubicBezTo>
                    <a:pt x="0" y="2277543"/>
                    <a:pt x="0" y="3352485"/>
                    <a:pt x="504851" y="4223910"/>
                  </a:cubicBezTo>
                  <a:cubicBezTo>
                    <a:pt x="1009702" y="5095335"/>
                    <a:pt x="1942227" y="5630028"/>
                    <a:pt x="2949320" y="5625524"/>
                  </a:cubicBezTo>
                  <a:cubicBezTo>
                    <a:pt x="3956413" y="5630028"/>
                    <a:pt x="4888938" y="5095335"/>
                    <a:pt x="5393789" y="4223910"/>
                  </a:cubicBezTo>
                  <a:cubicBezTo>
                    <a:pt x="5898640" y="3352485"/>
                    <a:pt x="5898640" y="2277543"/>
                    <a:pt x="5393789" y="1406118"/>
                  </a:cubicBezTo>
                  <a:cubicBezTo>
                    <a:pt x="4888938" y="534693"/>
                    <a:pt x="3956413" y="0"/>
                    <a:pt x="2949320" y="4504"/>
                  </a:cubicBezTo>
                  <a:close/>
                </a:path>
              </a:pathLst>
            </a:custGeom>
            <a:blipFill>
              <a:blip r:embed="rId4"/>
              <a:stretch>
                <a:fillRect l="-38887" t="0" r="-38887" b="0"/>
              </a:stretch>
            </a:blipFill>
          </p:spPr>
        </p:sp>
      </p:grpSp>
      <p:grpSp>
        <p:nvGrpSpPr>
          <p:cNvPr name="Group 6" id="6"/>
          <p:cNvGrpSpPr>
            <a:grpSpLocks noChangeAspect="true"/>
          </p:cNvGrpSpPr>
          <p:nvPr/>
        </p:nvGrpSpPr>
        <p:grpSpPr>
          <a:xfrm rot="0">
            <a:off x="13150336" y="5158861"/>
            <a:ext cx="5137664" cy="5137664"/>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130" y="0"/>
                    <a:pt x="0" y="1421130"/>
                    <a:pt x="0" y="3175000"/>
                  </a:cubicBezTo>
                  <a:lnTo>
                    <a:pt x="0" y="6350000"/>
                  </a:lnTo>
                  <a:lnTo>
                    <a:pt x="3175000" y="6350000"/>
                  </a:lnTo>
                  <a:cubicBezTo>
                    <a:pt x="4928870" y="6350000"/>
                    <a:pt x="6350000" y="4928870"/>
                    <a:pt x="6350000" y="3175000"/>
                  </a:cubicBezTo>
                  <a:cubicBezTo>
                    <a:pt x="6350000" y="1421130"/>
                    <a:pt x="4928870" y="0"/>
                    <a:pt x="3175000" y="0"/>
                  </a:cubicBezTo>
                  <a:close/>
                </a:path>
              </a:pathLst>
            </a:custGeom>
            <a:solidFill>
              <a:srgbClr val="032859"/>
            </a:solidFill>
          </p:spPr>
        </p:sp>
        <p:sp>
          <p:nvSpPr>
            <p:cNvPr name="Freeform 8" id="8"/>
            <p:cNvSpPr/>
            <p:nvPr/>
          </p:nvSpPr>
          <p:spPr>
            <a:xfrm flipH="false" flipV="false" rot="0">
              <a:off x="227013" y="387928"/>
              <a:ext cx="5895974" cy="5627483"/>
            </a:xfrm>
            <a:custGeom>
              <a:avLst/>
              <a:gdLst/>
              <a:ahLst/>
              <a:cxnLst/>
              <a:rect r="r" b="b" t="t" l="l"/>
              <a:pathLst>
                <a:path h="5627483" w="5895974">
                  <a:moveTo>
                    <a:pt x="2947987" y="4502"/>
                  </a:moveTo>
                  <a:cubicBezTo>
                    <a:pt x="1941349" y="0"/>
                    <a:pt x="1009246" y="534452"/>
                    <a:pt x="504623" y="1405483"/>
                  </a:cubicBezTo>
                  <a:cubicBezTo>
                    <a:pt x="0" y="2276514"/>
                    <a:pt x="0" y="3350970"/>
                    <a:pt x="504623" y="4222001"/>
                  </a:cubicBezTo>
                  <a:cubicBezTo>
                    <a:pt x="1009246" y="5093032"/>
                    <a:pt x="1941349" y="5627484"/>
                    <a:pt x="2947987" y="5622982"/>
                  </a:cubicBezTo>
                  <a:cubicBezTo>
                    <a:pt x="3954625" y="5627484"/>
                    <a:pt x="4886728" y="5093032"/>
                    <a:pt x="5391351" y="4222001"/>
                  </a:cubicBezTo>
                  <a:cubicBezTo>
                    <a:pt x="5895974" y="3350970"/>
                    <a:pt x="5895974" y="2276514"/>
                    <a:pt x="5391351" y="1405483"/>
                  </a:cubicBezTo>
                  <a:cubicBezTo>
                    <a:pt x="4886728" y="534451"/>
                    <a:pt x="3954625" y="0"/>
                    <a:pt x="2947987" y="4502"/>
                  </a:cubicBezTo>
                  <a:close/>
                </a:path>
              </a:pathLst>
            </a:custGeom>
            <a:blipFill>
              <a:blip r:embed="rId5"/>
              <a:stretch>
                <a:fillRect l="-24712" t="0" r="-24712" b="0"/>
              </a:stretch>
            </a:blipFill>
          </p:spPr>
        </p:sp>
      </p:grpSp>
      <p:sp>
        <p:nvSpPr>
          <p:cNvPr name="Freeform 9" id="9"/>
          <p:cNvSpPr/>
          <p:nvPr/>
        </p:nvSpPr>
        <p:spPr>
          <a:xfrm flipH="false" flipV="false" rot="0">
            <a:off x="1028700" y="6352592"/>
            <a:ext cx="6784368" cy="2905708"/>
          </a:xfrm>
          <a:custGeom>
            <a:avLst/>
            <a:gdLst/>
            <a:ahLst/>
            <a:cxnLst/>
            <a:rect r="r" b="b" t="t" l="l"/>
            <a:pathLst>
              <a:path h="2905708" w="6784368">
                <a:moveTo>
                  <a:pt x="0" y="0"/>
                </a:moveTo>
                <a:lnTo>
                  <a:pt x="6784368" y="0"/>
                </a:lnTo>
                <a:lnTo>
                  <a:pt x="6784368" y="2905708"/>
                </a:lnTo>
                <a:lnTo>
                  <a:pt x="0" y="2905708"/>
                </a:lnTo>
                <a:lnTo>
                  <a:pt x="0" y="0"/>
                </a:lnTo>
                <a:close/>
              </a:path>
            </a:pathLst>
          </a:custGeom>
          <a:blipFill>
            <a:blip r:embed="rId6"/>
            <a:stretch>
              <a:fillRect l="0" t="0" r="0" b="0"/>
            </a:stretch>
          </a:blipFill>
        </p:spPr>
      </p:sp>
      <p:grpSp>
        <p:nvGrpSpPr>
          <p:cNvPr name="Group 10" id="10"/>
          <p:cNvGrpSpPr/>
          <p:nvPr/>
        </p:nvGrpSpPr>
        <p:grpSpPr>
          <a:xfrm rot="0">
            <a:off x="1028700" y="1028700"/>
            <a:ext cx="11453682" cy="1432527"/>
            <a:chOff x="0" y="0"/>
            <a:chExt cx="15271575" cy="1910036"/>
          </a:xfrm>
        </p:grpSpPr>
        <p:sp>
          <p:nvSpPr>
            <p:cNvPr name="TextBox 11" id="11"/>
            <p:cNvSpPr txBox="true"/>
            <p:nvPr/>
          </p:nvSpPr>
          <p:spPr>
            <a:xfrm rot="0">
              <a:off x="0" y="-47625"/>
              <a:ext cx="15271575" cy="810310"/>
            </a:xfrm>
            <a:prstGeom prst="rect">
              <a:avLst/>
            </a:prstGeom>
          </p:spPr>
          <p:txBody>
            <a:bodyPr anchor="t" rtlCol="false" tIns="0" lIns="0" bIns="0" rIns="0">
              <a:spAutoFit/>
            </a:bodyPr>
            <a:lstStyle/>
            <a:p>
              <a:pPr algn="l" marL="0" indent="0" lvl="0">
                <a:lnSpc>
                  <a:spcPts val="4256"/>
                </a:lnSpc>
                <a:spcBef>
                  <a:spcPct val="0"/>
                </a:spcBef>
              </a:pPr>
              <a:r>
                <a:rPr lang="en-US" sz="3800" strike="noStrike" u="none">
                  <a:solidFill>
                    <a:srgbClr val="000000"/>
                  </a:solidFill>
                  <a:latin typeface="Chunk Five"/>
                  <a:ea typeface="Chunk Five"/>
                  <a:cs typeface="Chunk Five"/>
                  <a:sym typeface="Chunk Five"/>
                </a:rPr>
                <a:t>Analyzing Data Separation &amp; Overlap for Clarity</a:t>
              </a:r>
            </a:p>
          </p:txBody>
        </p:sp>
        <p:sp>
          <p:nvSpPr>
            <p:cNvPr name="TextBox 12" id="12"/>
            <p:cNvSpPr txBox="true"/>
            <p:nvPr/>
          </p:nvSpPr>
          <p:spPr>
            <a:xfrm rot="0">
              <a:off x="0" y="1459822"/>
              <a:ext cx="15271575" cy="450214"/>
            </a:xfrm>
            <a:prstGeom prst="rect">
              <a:avLst/>
            </a:prstGeom>
          </p:spPr>
          <p:txBody>
            <a:bodyPr anchor="t" rtlCol="false" tIns="0" lIns="0" bIns="0" rIns="0">
              <a:spAutoFit/>
            </a:bodyPr>
            <a:lstStyle/>
            <a:p>
              <a:pPr algn="l" marL="0" indent="0" lvl="0">
                <a:lnSpc>
                  <a:spcPts val="2730"/>
                </a:lnSpc>
                <a:spcBef>
                  <a:spcPct val="0"/>
                </a:spcBef>
              </a:pPr>
              <a:r>
                <a:rPr lang="en-US" sz="2100" strike="noStrike" u="none">
                  <a:solidFill>
                    <a:srgbClr val="000000"/>
                  </a:solidFill>
                  <a:latin typeface="Open Sauce"/>
                  <a:ea typeface="Open Sauce"/>
                  <a:cs typeface="Open Sauce"/>
                  <a:sym typeface="Open Sauce"/>
                </a:rPr>
                <a:t>Assessing dataset relationships for informed decision-making</a:t>
              </a:r>
            </a:p>
          </p:txBody>
        </p:sp>
      </p:grpSp>
      <p:grpSp>
        <p:nvGrpSpPr>
          <p:cNvPr name="Group 13" id="13"/>
          <p:cNvGrpSpPr/>
          <p:nvPr/>
        </p:nvGrpSpPr>
        <p:grpSpPr>
          <a:xfrm rot="0">
            <a:off x="1028700" y="2968039"/>
            <a:ext cx="11453682" cy="3139707"/>
            <a:chOff x="0" y="0"/>
            <a:chExt cx="15271575" cy="4186276"/>
          </a:xfrm>
        </p:grpSpPr>
        <p:sp>
          <p:nvSpPr>
            <p:cNvPr name="TextBox 14" id="14"/>
            <p:cNvSpPr txBox="true"/>
            <p:nvPr/>
          </p:nvSpPr>
          <p:spPr>
            <a:xfrm rot="0">
              <a:off x="0" y="0"/>
              <a:ext cx="15271575" cy="482600"/>
            </a:xfrm>
            <a:prstGeom prst="rect">
              <a:avLst/>
            </a:prstGeom>
          </p:spPr>
          <p:txBody>
            <a:bodyPr anchor="t" rtlCol="false" tIns="0" lIns="0" bIns="0" rIns="0">
              <a:spAutoFit/>
            </a:bodyPr>
            <a:lstStyle/>
            <a:p>
              <a:pPr algn="l" marL="0" indent="0" lvl="0">
                <a:lnSpc>
                  <a:spcPts val="2879"/>
                </a:lnSpc>
                <a:spcBef>
                  <a:spcPct val="0"/>
                </a:spcBef>
              </a:pPr>
              <a:r>
                <a:rPr lang="en-US" b="true" sz="2399" strike="noStrike" u="none">
                  <a:solidFill>
                    <a:srgbClr val="000000"/>
                  </a:solidFill>
                  <a:latin typeface="Open Sauce Bold"/>
                  <a:ea typeface="Open Sauce Bold"/>
                  <a:cs typeface="Open Sauce Bold"/>
                  <a:sym typeface="Open Sauce Bold"/>
                </a:rPr>
                <a:t>Strategies for Addressing Overlap and Gaps</a:t>
              </a:r>
            </a:p>
          </p:txBody>
        </p:sp>
        <p:sp>
          <p:nvSpPr>
            <p:cNvPr name="TextBox 15" id="15"/>
            <p:cNvSpPr txBox="true"/>
            <p:nvPr/>
          </p:nvSpPr>
          <p:spPr>
            <a:xfrm rot="0">
              <a:off x="0" y="1396508"/>
              <a:ext cx="15271575" cy="2789768"/>
            </a:xfrm>
            <a:prstGeom prst="rect">
              <a:avLst/>
            </a:prstGeom>
          </p:spPr>
          <p:txBody>
            <a:bodyPr anchor="t" rtlCol="false" tIns="0" lIns="0" bIns="0" rIns="0">
              <a:spAutoFit/>
            </a:bodyPr>
            <a:lstStyle/>
            <a:p>
              <a:pPr algn="l" marL="431794" indent="-215897" lvl="1">
                <a:lnSpc>
                  <a:spcPts val="2799"/>
                </a:lnSpc>
                <a:buFont typeface="Arial"/>
                <a:buChar char="•"/>
              </a:pPr>
              <a:r>
                <a:rPr lang="en-US" sz="1999">
                  <a:solidFill>
                    <a:srgbClr val="000000"/>
                  </a:solidFill>
                  <a:latin typeface="Open Sauce"/>
                  <a:ea typeface="Open Sauce"/>
                  <a:cs typeface="Open Sauce"/>
                  <a:sym typeface="Open Sauce"/>
                </a:rPr>
                <a:t>Two main strategies:</a:t>
              </a:r>
            </a:p>
            <a:p>
              <a:pPr algn="l" marL="863588" indent="-287863" lvl="2">
                <a:lnSpc>
                  <a:spcPts val="2799"/>
                </a:lnSpc>
                <a:buFont typeface="Arial"/>
                <a:buChar char="⚬"/>
              </a:pPr>
              <a:r>
                <a:rPr lang="en-US" sz="1999">
                  <a:solidFill>
                    <a:srgbClr val="000000"/>
                  </a:solidFill>
                  <a:latin typeface="Open Sauce"/>
                  <a:ea typeface="Open Sauce"/>
                  <a:cs typeface="Open Sauce"/>
                  <a:sym typeface="Open Sauce"/>
                </a:rPr>
                <a:t>Search ‘business_title’ for job role keywords (e.g., “data analyst”, “data engineer”).</a:t>
              </a:r>
            </a:p>
            <a:p>
              <a:pPr algn="l" marL="863588" indent="-287863" lvl="2">
                <a:lnSpc>
                  <a:spcPts val="2799"/>
                </a:lnSpc>
                <a:buFont typeface="Arial"/>
                <a:buChar char="⚬"/>
              </a:pPr>
              <a:r>
                <a:rPr lang="en-US" sz="1999">
                  <a:solidFill>
                    <a:srgbClr val="000000"/>
                  </a:solidFill>
                  <a:latin typeface="Open Sauce"/>
                  <a:ea typeface="Open Sauce"/>
                  <a:cs typeface="Open Sauce"/>
                  <a:sym typeface="Open Sauce"/>
                </a:rPr>
                <a:t>Search ‘preferred_skills’ for defined skill words.</a:t>
              </a:r>
            </a:p>
            <a:p>
              <a:pPr algn="l" marL="431794" indent="-215897" lvl="1">
                <a:lnSpc>
                  <a:spcPts val="2799"/>
                </a:lnSpc>
                <a:buFont typeface="Arial"/>
                <a:buChar char="•"/>
              </a:pPr>
              <a:r>
                <a:rPr lang="en-US" sz="1999">
                  <a:solidFill>
                    <a:srgbClr val="000000"/>
                  </a:solidFill>
                  <a:latin typeface="Open Sauce"/>
                  <a:ea typeface="Open Sauce"/>
                  <a:cs typeface="Open Sauce"/>
                  <a:sym typeface="Open Sauce"/>
                </a:rPr>
                <a:t>Ensured jobs with missing ‘preferred_skills’ but matching titles are still included as data roles.</a:t>
              </a:r>
            </a:p>
            <a:p>
              <a:pPr algn="l" marL="431794" indent="-215897" lvl="1">
                <a:lnSpc>
                  <a:spcPts val="2799"/>
                </a:lnSpc>
                <a:buFont typeface="Arial"/>
                <a:buChar char="•"/>
              </a:pPr>
              <a:r>
                <a:rPr lang="en-US" sz="1999">
                  <a:solidFill>
                    <a:srgbClr val="000000"/>
                  </a:solidFill>
                  <a:latin typeface="Open Sauce"/>
                  <a:ea typeface="Open Sauce"/>
                  <a:cs typeface="Open Sauce"/>
                  <a:sym typeface="Open Sauce"/>
                </a:rPr>
                <a:t>Verified final record counts and overlaps (see final checks in data_wrangling.ipynb).</a:t>
              </a:r>
            </a:p>
          </p:txBody>
        </p:sp>
      </p:grpSp>
      <p:sp>
        <p:nvSpPr>
          <p:cNvPr name="TextBox 16" id="16"/>
          <p:cNvSpPr txBox="true"/>
          <p:nvPr/>
        </p:nvSpPr>
        <p:spPr>
          <a:xfrm rot="0">
            <a:off x="7813068" y="7298253"/>
            <a:ext cx="4669314" cy="638175"/>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Open Sauce"/>
                <a:ea typeface="Open Sauce"/>
                <a:cs typeface="Open Sauce"/>
                <a:sym typeface="Open Sauce"/>
              </a:rPr>
              <a:t>Visual: This table show DataFrame sizes and overlaps.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5140577"/>
            <a:ext cx="5146423" cy="514642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32859"/>
            </a:solidFill>
          </p:spPr>
        </p:sp>
        <p:sp>
          <p:nvSpPr>
            <p:cNvPr name="Freeform 4" id="4"/>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2"/>
              <a:stretch>
                <a:fillRect l="-39305" t="0" r="-39305" b="0"/>
              </a:stretch>
            </a:blipFill>
          </p:spPr>
        </p:sp>
      </p:grpSp>
      <p:grpSp>
        <p:nvGrpSpPr>
          <p:cNvPr name="Group 5" id="5"/>
          <p:cNvGrpSpPr>
            <a:grpSpLocks noChangeAspect="true"/>
          </p:cNvGrpSpPr>
          <p:nvPr/>
        </p:nvGrpSpPr>
        <p:grpSpPr>
          <a:xfrm rot="0">
            <a:off x="0" y="0"/>
            <a:ext cx="5146423" cy="5146423"/>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032859"/>
            </a:solidFill>
          </p:spPr>
        </p:sp>
        <p:sp>
          <p:nvSpPr>
            <p:cNvPr name="Freeform 7" id="7"/>
            <p:cNvSpPr/>
            <p:nvPr/>
          </p:nvSpPr>
          <p:spPr>
            <a:xfrm flipH="false" flipV="false" rot="0">
              <a:off x="227013" y="334588"/>
              <a:ext cx="5895974" cy="5627484"/>
            </a:xfrm>
            <a:custGeom>
              <a:avLst/>
              <a:gdLst/>
              <a:ahLst/>
              <a:cxnLst/>
              <a:rect r="r" b="b" t="t" l="l"/>
              <a:pathLst>
                <a:path h="5627484" w="5895974">
                  <a:moveTo>
                    <a:pt x="2947987" y="4502"/>
                  </a:moveTo>
                  <a:cubicBezTo>
                    <a:pt x="1941349" y="0"/>
                    <a:pt x="1009246" y="534452"/>
                    <a:pt x="504623" y="1405483"/>
                  </a:cubicBezTo>
                  <a:cubicBezTo>
                    <a:pt x="0" y="2276514"/>
                    <a:pt x="0" y="3350970"/>
                    <a:pt x="504623" y="4222001"/>
                  </a:cubicBezTo>
                  <a:cubicBezTo>
                    <a:pt x="1009246" y="5093033"/>
                    <a:pt x="1941349" y="5627484"/>
                    <a:pt x="2947987" y="5622982"/>
                  </a:cubicBezTo>
                  <a:cubicBezTo>
                    <a:pt x="3954625" y="5627484"/>
                    <a:pt x="4886728" y="5093033"/>
                    <a:pt x="5391351" y="4222001"/>
                  </a:cubicBezTo>
                  <a:cubicBezTo>
                    <a:pt x="5895974" y="3350970"/>
                    <a:pt x="5895974" y="2276514"/>
                    <a:pt x="5391351" y="1405483"/>
                  </a:cubicBezTo>
                  <a:cubicBezTo>
                    <a:pt x="4886728" y="534452"/>
                    <a:pt x="3954625" y="0"/>
                    <a:pt x="2947987" y="4502"/>
                  </a:cubicBezTo>
                  <a:close/>
                </a:path>
              </a:pathLst>
            </a:custGeom>
            <a:blipFill>
              <a:blip r:embed="rId3"/>
              <a:stretch>
                <a:fillRect l="-38887" t="0" r="-38887" b="0"/>
              </a:stretch>
            </a:blipFill>
          </p:spPr>
        </p:sp>
      </p:grpSp>
      <p:sp>
        <p:nvSpPr>
          <p:cNvPr name="Freeform 8" id="8"/>
          <p:cNvSpPr/>
          <p:nvPr/>
        </p:nvSpPr>
        <p:spPr>
          <a:xfrm flipH="false" flipV="false" rot="0">
            <a:off x="0" y="745150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0" y="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617764" y="3620678"/>
            <a:ext cx="3039799" cy="3039799"/>
          </a:xfrm>
          <a:custGeom>
            <a:avLst/>
            <a:gdLst/>
            <a:ahLst/>
            <a:cxnLst/>
            <a:rect r="r" b="b" t="t" l="l"/>
            <a:pathLst>
              <a:path h="3039799" w="3039799">
                <a:moveTo>
                  <a:pt x="0" y="0"/>
                </a:moveTo>
                <a:lnTo>
                  <a:pt x="3039799" y="0"/>
                </a:lnTo>
                <a:lnTo>
                  <a:pt x="3039799" y="3039798"/>
                </a:lnTo>
                <a:lnTo>
                  <a:pt x="0" y="30397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1434301" y="5481540"/>
            <a:ext cx="5309400" cy="3195587"/>
          </a:xfrm>
          <a:custGeom>
            <a:avLst/>
            <a:gdLst/>
            <a:ahLst/>
            <a:cxnLst/>
            <a:rect r="r" b="b" t="t" l="l"/>
            <a:pathLst>
              <a:path h="3195587" w="5309400">
                <a:moveTo>
                  <a:pt x="0" y="0"/>
                </a:moveTo>
                <a:lnTo>
                  <a:pt x="5309400" y="0"/>
                </a:lnTo>
                <a:lnTo>
                  <a:pt x="5309400" y="3195587"/>
                </a:lnTo>
                <a:lnTo>
                  <a:pt x="0" y="3195587"/>
                </a:lnTo>
                <a:lnTo>
                  <a:pt x="0" y="0"/>
                </a:lnTo>
                <a:close/>
              </a:path>
            </a:pathLst>
          </a:custGeom>
          <a:blipFill>
            <a:blip r:embed="rId8"/>
            <a:stretch>
              <a:fillRect l="0" t="0" r="0" b="0"/>
            </a:stretch>
          </a:blipFill>
        </p:spPr>
      </p:sp>
      <p:grpSp>
        <p:nvGrpSpPr>
          <p:cNvPr name="Group 12" id="12"/>
          <p:cNvGrpSpPr/>
          <p:nvPr/>
        </p:nvGrpSpPr>
        <p:grpSpPr>
          <a:xfrm rot="0">
            <a:off x="6946714" y="1028700"/>
            <a:ext cx="10312586" cy="2680555"/>
            <a:chOff x="0" y="0"/>
            <a:chExt cx="13750115" cy="3574073"/>
          </a:xfrm>
        </p:grpSpPr>
        <p:sp>
          <p:nvSpPr>
            <p:cNvPr name="TextBox 13" id="13"/>
            <p:cNvSpPr txBox="true"/>
            <p:nvPr/>
          </p:nvSpPr>
          <p:spPr>
            <a:xfrm rot="0">
              <a:off x="0" y="2339633"/>
              <a:ext cx="13750115" cy="1234440"/>
            </a:xfrm>
            <a:prstGeom prst="rect">
              <a:avLst/>
            </a:prstGeom>
          </p:spPr>
          <p:txBody>
            <a:bodyPr anchor="t" rtlCol="false" tIns="0" lIns="0" bIns="0" rIns="0">
              <a:spAutoFit/>
            </a:bodyPr>
            <a:lstStyle/>
            <a:p>
              <a:pPr algn="l" marL="0" indent="0" lvl="0">
                <a:lnSpc>
                  <a:spcPts val="2520"/>
                </a:lnSpc>
              </a:pPr>
              <a:r>
                <a:rPr lang="en-US" sz="1800">
                  <a:solidFill>
                    <a:srgbClr val="000000"/>
                  </a:solidFill>
                  <a:latin typeface="Open Sauce"/>
                  <a:ea typeface="Open Sauce"/>
                  <a:cs typeface="Open Sauce"/>
                  <a:sym typeface="Open Sauce"/>
                </a:rPr>
                <a:t>EDA techniques involve summarizing the main characteristics of datasets, using visual methods. They help identify patterns, trends, and anomalies, providing critical insights that drive </a:t>
              </a:r>
              <a:r>
                <a:rPr lang="en-US" b="true" sz="1800">
                  <a:solidFill>
                    <a:srgbClr val="000000"/>
                  </a:solidFill>
                  <a:latin typeface="Open Sauce Bold"/>
                  <a:ea typeface="Open Sauce Bold"/>
                  <a:cs typeface="Open Sauce Bold"/>
                  <a:sym typeface="Open Sauce Bold"/>
                </a:rPr>
                <a:t>informed decision-making</a:t>
              </a:r>
              <a:r>
                <a:rPr lang="en-US" sz="1800">
                  <a:solidFill>
                    <a:srgbClr val="000000"/>
                  </a:solidFill>
                  <a:latin typeface="Open Sauce"/>
                  <a:ea typeface="Open Sauce"/>
                  <a:cs typeface="Open Sauce"/>
                  <a:sym typeface="Open Sauce"/>
                </a:rPr>
                <a:t> in NYC job data analysis.</a:t>
              </a:r>
            </a:p>
          </p:txBody>
        </p:sp>
        <p:sp>
          <p:nvSpPr>
            <p:cNvPr name="TextBox 14" id="14"/>
            <p:cNvSpPr txBox="true"/>
            <p:nvPr/>
          </p:nvSpPr>
          <p:spPr>
            <a:xfrm rot="0">
              <a:off x="0" y="-47625"/>
              <a:ext cx="13750115" cy="1916049"/>
            </a:xfrm>
            <a:prstGeom prst="rect">
              <a:avLst/>
            </a:prstGeom>
          </p:spPr>
          <p:txBody>
            <a:bodyPr anchor="t" rtlCol="false" tIns="0" lIns="0" bIns="0" rIns="0">
              <a:spAutoFit/>
            </a:bodyPr>
            <a:lstStyle/>
            <a:p>
              <a:pPr algn="l" marL="0" indent="0" lvl="0">
                <a:lnSpc>
                  <a:spcPts val="5376"/>
                </a:lnSpc>
                <a:spcBef>
                  <a:spcPct val="0"/>
                </a:spcBef>
              </a:pPr>
              <a:r>
                <a:rPr lang="en-US" sz="4800" strike="noStrike" u="none">
                  <a:solidFill>
                    <a:srgbClr val="000000"/>
                  </a:solidFill>
                  <a:latin typeface="Chunk Five"/>
                  <a:ea typeface="Chunk Five"/>
                  <a:cs typeface="Chunk Five"/>
                  <a:sym typeface="Chunk Five"/>
                </a:rPr>
                <a:t>Exploratory Data Analysis (EDA) Techniques</a:t>
              </a:r>
            </a:p>
          </p:txBody>
        </p:sp>
      </p:grpSp>
      <p:sp>
        <p:nvSpPr>
          <p:cNvPr name="TextBox 15" id="15"/>
          <p:cNvSpPr txBox="true"/>
          <p:nvPr/>
        </p:nvSpPr>
        <p:spPr>
          <a:xfrm rot="0">
            <a:off x="6946714" y="4057552"/>
            <a:ext cx="10312586" cy="2838450"/>
          </a:xfrm>
          <a:prstGeom prst="rect">
            <a:avLst/>
          </a:prstGeom>
        </p:spPr>
        <p:txBody>
          <a:bodyPr anchor="t" rtlCol="false" tIns="0" lIns="0" bIns="0" rIns="0">
            <a:spAutoFit/>
          </a:bodyPr>
          <a:lstStyle/>
          <a:p>
            <a:pPr algn="l">
              <a:lnSpc>
                <a:spcPts val="2520"/>
              </a:lnSpc>
              <a:spcBef>
                <a:spcPct val="0"/>
              </a:spcBef>
            </a:pPr>
            <a:r>
              <a:rPr lang="en-US" b="true" sz="2100">
                <a:solidFill>
                  <a:srgbClr val="000000"/>
                </a:solidFill>
                <a:latin typeface="Open Sauce Bold"/>
                <a:ea typeface="Open Sauce Bold"/>
                <a:cs typeface="Open Sauce Bold"/>
                <a:sym typeface="Open Sauce Bold"/>
              </a:rPr>
              <a:t>EDA</a:t>
            </a:r>
            <a:r>
              <a:rPr lang="en-US" b="true" sz="2100">
                <a:solidFill>
                  <a:srgbClr val="000000"/>
                </a:solidFill>
                <a:latin typeface="Open Sauce Bold"/>
                <a:ea typeface="Open Sauce Bold"/>
                <a:cs typeface="Open Sauce Bold"/>
                <a:sym typeface="Open Sauce Bold"/>
              </a:rPr>
              <a:t> tools:</a:t>
            </a:r>
          </a:p>
          <a:p>
            <a:pPr algn="l" marL="453392" indent="-226696" lvl="1">
              <a:lnSpc>
                <a:spcPts val="2520"/>
              </a:lnSpc>
              <a:buFont typeface="Arial"/>
              <a:buChar char="•"/>
            </a:pPr>
            <a:r>
              <a:rPr lang="en-US" sz="2100">
                <a:solidFill>
                  <a:srgbClr val="000000"/>
                </a:solidFill>
                <a:latin typeface="Open Sauce"/>
                <a:ea typeface="Open Sauce"/>
                <a:cs typeface="Open Sauce"/>
                <a:sym typeface="Open Sauce"/>
              </a:rPr>
              <a:t>Pandas, matplotlib, seaborn for grouping, statistics, and visualization.</a:t>
            </a:r>
          </a:p>
          <a:p>
            <a:pPr algn="l" marL="453392" indent="-226696" lvl="1">
              <a:lnSpc>
                <a:spcPts val="2520"/>
              </a:lnSpc>
              <a:buFont typeface="Arial"/>
              <a:buChar char="•"/>
            </a:pPr>
            <a:r>
              <a:rPr lang="en-US" sz="2100">
                <a:solidFill>
                  <a:srgbClr val="000000"/>
                </a:solidFill>
                <a:latin typeface="Open Sauce"/>
                <a:ea typeface="Open Sauce"/>
                <a:cs typeface="Open Sauce"/>
                <a:sym typeface="Open Sauce"/>
              </a:rPr>
              <a:t>Summary tables for missing values, column types.</a:t>
            </a:r>
          </a:p>
          <a:p>
            <a:pPr algn="l">
              <a:lnSpc>
                <a:spcPts val="2520"/>
              </a:lnSpc>
            </a:pPr>
          </a:p>
          <a:p>
            <a:pPr algn="l">
              <a:lnSpc>
                <a:spcPts val="2520"/>
              </a:lnSpc>
              <a:spcBef>
                <a:spcPct val="0"/>
              </a:spcBef>
            </a:pPr>
            <a:r>
              <a:rPr lang="en-US" b="true" sz="2100">
                <a:solidFill>
                  <a:srgbClr val="000000"/>
                </a:solidFill>
                <a:latin typeface="Open Sauce Bold"/>
                <a:ea typeface="Open Sauce Bold"/>
                <a:cs typeface="Open Sauce Bold"/>
                <a:sym typeface="Open Sauce Bold"/>
              </a:rPr>
              <a:t>Main exploration axes:</a:t>
            </a:r>
          </a:p>
          <a:p>
            <a:pPr algn="l" marL="453392" indent="-226696" lvl="1">
              <a:lnSpc>
                <a:spcPts val="2520"/>
              </a:lnSpc>
              <a:buFont typeface="Arial"/>
              <a:buChar char="•"/>
            </a:pPr>
            <a:r>
              <a:rPr lang="en-US" sz="2100">
                <a:solidFill>
                  <a:srgbClr val="000000"/>
                </a:solidFill>
                <a:latin typeface="Open Sauce"/>
                <a:ea typeface="Open Sauce"/>
                <a:cs typeface="Open Sauce"/>
                <a:sym typeface="Open Sauce"/>
              </a:rPr>
              <a:t>Salary by job type and skills.</a:t>
            </a:r>
          </a:p>
          <a:p>
            <a:pPr algn="l" marL="453392" indent="-226696" lvl="1">
              <a:lnSpc>
                <a:spcPts val="2520"/>
              </a:lnSpc>
              <a:buFont typeface="Arial"/>
              <a:buChar char="•"/>
            </a:pPr>
            <a:r>
              <a:rPr lang="en-US" sz="2100">
                <a:solidFill>
                  <a:srgbClr val="000000"/>
                </a:solidFill>
                <a:latin typeface="Open Sauce"/>
                <a:ea typeface="Open Sauce"/>
                <a:cs typeface="Open Sauce"/>
                <a:sym typeface="Open Sauce"/>
              </a:rPr>
              <a:t>Contract type distribution.</a:t>
            </a:r>
          </a:p>
          <a:p>
            <a:pPr algn="l" marL="453392" indent="-226696" lvl="1">
              <a:lnSpc>
                <a:spcPts val="2520"/>
              </a:lnSpc>
              <a:buFont typeface="Arial"/>
              <a:buChar char="•"/>
            </a:pPr>
            <a:r>
              <a:rPr lang="en-US" sz="2100">
                <a:solidFill>
                  <a:srgbClr val="000000"/>
                </a:solidFill>
                <a:latin typeface="Open Sauce"/>
                <a:ea typeface="Open Sauce"/>
                <a:cs typeface="Open Sauce"/>
                <a:sym typeface="Open Sauce"/>
              </a:rPr>
              <a:t>Posting trends over time.</a:t>
            </a:r>
          </a:p>
          <a:p>
            <a:pPr algn="l" marL="453392" indent="-226696" lvl="1">
              <a:lnSpc>
                <a:spcPts val="2520"/>
              </a:lnSpc>
              <a:buFont typeface="Arial"/>
              <a:buChar char="•"/>
            </a:pPr>
            <a:r>
              <a:rPr lang="en-US" sz="2100">
                <a:solidFill>
                  <a:srgbClr val="000000"/>
                </a:solidFill>
                <a:latin typeface="Open Sauce"/>
                <a:ea typeface="Open Sauce"/>
                <a:cs typeface="Open Sauce"/>
                <a:sym typeface="Open Sauce"/>
              </a:rPr>
              <a:t>Agency hiring patterns.</a:t>
            </a:r>
          </a:p>
        </p:txBody>
      </p:sp>
      <p:sp>
        <p:nvSpPr>
          <p:cNvPr name="TextBox 16" id="16"/>
          <p:cNvSpPr txBox="true"/>
          <p:nvPr/>
        </p:nvSpPr>
        <p:spPr>
          <a:xfrm rot="0">
            <a:off x="10831264" y="8869250"/>
            <a:ext cx="6439049"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Open Sauce"/>
                <a:ea typeface="Open Sauce"/>
                <a:cs typeface="Open Sauce"/>
                <a:sym typeface="Open Sauce"/>
              </a:rPr>
              <a:t>D</a:t>
            </a:r>
            <a:r>
              <a:rPr lang="en-US" sz="1400">
                <a:solidFill>
                  <a:srgbClr val="000000"/>
                </a:solidFill>
                <a:latin typeface="Open Sauce"/>
                <a:ea typeface="Open Sauce"/>
                <a:cs typeface="Open Sauce"/>
                <a:sym typeface="Open Sauce"/>
              </a:rPr>
              <a:t>escriptive statistics for positions and salary columns in Data Analyst roles</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5140577"/>
            <a:ext cx="5146423" cy="514642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32859"/>
            </a:solidFill>
          </p:spPr>
        </p:sp>
        <p:sp>
          <p:nvSpPr>
            <p:cNvPr name="Freeform 4" id="4"/>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2"/>
              <a:stretch>
                <a:fillRect l="-25063" t="0" r="-25063" b="0"/>
              </a:stretch>
            </a:blipFill>
          </p:spPr>
        </p:sp>
      </p:grpSp>
      <p:grpSp>
        <p:nvGrpSpPr>
          <p:cNvPr name="Group 5" id="5"/>
          <p:cNvGrpSpPr>
            <a:grpSpLocks noChangeAspect="true"/>
          </p:cNvGrpSpPr>
          <p:nvPr/>
        </p:nvGrpSpPr>
        <p:grpSpPr>
          <a:xfrm rot="0">
            <a:off x="0" y="0"/>
            <a:ext cx="5146423" cy="5146423"/>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032859"/>
            </a:solidFill>
          </p:spPr>
        </p:sp>
        <p:sp>
          <p:nvSpPr>
            <p:cNvPr name="Freeform 7" id="7"/>
            <p:cNvSpPr/>
            <p:nvPr/>
          </p:nvSpPr>
          <p:spPr>
            <a:xfrm flipH="false" flipV="false" rot="0">
              <a:off x="227013" y="334588"/>
              <a:ext cx="5895974" cy="5627484"/>
            </a:xfrm>
            <a:custGeom>
              <a:avLst/>
              <a:gdLst/>
              <a:ahLst/>
              <a:cxnLst/>
              <a:rect r="r" b="b" t="t" l="l"/>
              <a:pathLst>
                <a:path h="5627484" w="5895974">
                  <a:moveTo>
                    <a:pt x="2947987" y="4502"/>
                  </a:moveTo>
                  <a:cubicBezTo>
                    <a:pt x="1941349" y="0"/>
                    <a:pt x="1009246" y="534452"/>
                    <a:pt x="504623" y="1405483"/>
                  </a:cubicBezTo>
                  <a:cubicBezTo>
                    <a:pt x="0" y="2276514"/>
                    <a:pt x="0" y="3350970"/>
                    <a:pt x="504623" y="4222001"/>
                  </a:cubicBezTo>
                  <a:cubicBezTo>
                    <a:pt x="1009246" y="5093033"/>
                    <a:pt x="1941349" y="5627484"/>
                    <a:pt x="2947987" y="5622982"/>
                  </a:cubicBezTo>
                  <a:cubicBezTo>
                    <a:pt x="3954625" y="5627484"/>
                    <a:pt x="4886728" y="5093033"/>
                    <a:pt x="5391351" y="4222001"/>
                  </a:cubicBezTo>
                  <a:cubicBezTo>
                    <a:pt x="5895974" y="3350970"/>
                    <a:pt x="5895974" y="2276514"/>
                    <a:pt x="5391351" y="1405483"/>
                  </a:cubicBezTo>
                  <a:cubicBezTo>
                    <a:pt x="4886728" y="534452"/>
                    <a:pt x="3954625" y="0"/>
                    <a:pt x="2947987" y="4502"/>
                  </a:cubicBezTo>
                  <a:close/>
                </a:path>
              </a:pathLst>
            </a:custGeom>
            <a:blipFill>
              <a:blip r:embed="rId3"/>
              <a:stretch>
                <a:fillRect l="-33658" t="0" r="-33658" b="0"/>
              </a:stretch>
            </a:blipFill>
          </p:spPr>
        </p:sp>
      </p:grpSp>
      <p:sp>
        <p:nvSpPr>
          <p:cNvPr name="Freeform 8" id="8"/>
          <p:cNvSpPr/>
          <p:nvPr/>
        </p:nvSpPr>
        <p:spPr>
          <a:xfrm flipH="false" flipV="false" rot="0">
            <a:off x="0" y="745150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0" y="0"/>
            <a:ext cx="2835500" cy="2835500"/>
          </a:xfrm>
          <a:custGeom>
            <a:avLst/>
            <a:gdLst/>
            <a:ahLst/>
            <a:cxnLst/>
            <a:rect r="r" b="b" t="t" l="l"/>
            <a:pathLst>
              <a:path h="2835500" w="2835500">
                <a:moveTo>
                  <a:pt x="0" y="0"/>
                </a:moveTo>
                <a:lnTo>
                  <a:pt x="2835500" y="0"/>
                </a:lnTo>
                <a:lnTo>
                  <a:pt x="2835500" y="2835500"/>
                </a:lnTo>
                <a:lnTo>
                  <a:pt x="0" y="2835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147832" y="4086185"/>
            <a:ext cx="10344230" cy="5172115"/>
          </a:xfrm>
          <a:custGeom>
            <a:avLst/>
            <a:gdLst/>
            <a:ahLst/>
            <a:cxnLst/>
            <a:rect r="r" b="b" t="t" l="l"/>
            <a:pathLst>
              <a:path h="5172115" w="10344230">
                <a:moveTo>
                  <a:pt x="0" y="0"/>
                </a:moveTo>
                <a:lnTo>
                  <a:pt x="10344230" y="0"/>
                </a:lnTo>
                <a:lnTo>
                  <a:pt x="10344230" y="5172115"/>
                </a:lnTo>
                <a:lnTo>
                  <a:pt x="0" y="5172115"/>
                </a:lnTo>
                <a:lnTo>
                  <a:pt x="0" y="0"/>
                </a:lnTo>
                <a:close/>
              </a:path>
            </a:pathLst>
          </a:custGeom>
          <a:blipFill>
            <a:blip r:embed="rId6"/>
            <a:stretch>
              <a:fillRect l="0" t="0" r="0" b="0"/>
            </a:stretch>
          </a:blipFill>
        </p:spPr>
      </p:sp>
      <p:sp>
        <p:nvSpPr>
          <p:cNvPr name="Freeform 11" id="11"/>
          <p:cNvSpPr/>
          <p:nvPr/>
        </p:nvSpPr>
        <p:spPr>
          <a:xfrm flipH="false" flipV="false" rot="0">
            <a:off x="5560898" y="2957415"/>
            <a:ext cx="11698402" cy="818888"/>
          </a:xfrm>
          <a:custGeom>
            <a:avLst/>
            <a:gdLst/>
            <a:ahLst/>
            <a:cxnLst/>
            <a:rect r="r" b="b" t="t" l="l"/>
            <a:pathLst>
              <a:path h="818888" w="11698402">
                <a:moveTo>
                  <a:pt x="0" y="0"/>
                </a:moveTo>
                <a:lnTo>
                  <a:pt x="11698402" y="0"/>
                </a:lnTo>
                <a:lnTo>
                  <a:pt x="11698402" y="818888"/>
                </a:lnTo>
                <a:lnTo>
                  <a:pt x="0" y="818888"/>
                </a:lnTo>
                <a:lnTo>
                  <a:pt x="0" y="0"/>
                </a:lnTo>
                <a:close/>
              </a:path>
            </a:pathLst>
          </a:custGeom>
          <a:blipFill>
            <a:blip r:embed="rId7"/>
            <a:stretch>
              <a:fillRect l="0" t="0" r="0" b="0"/>
            </a:stretch>
          </a:blipFill>
        </p:spPr>
      </p:sp>
      <p:grpSp>
        <p:nvGrpSpPr>
          <p:cNvPr name="Group 12" id="12"/>
          <p:cNvGrpSpPr/>
          <p:nvPr/>
        </p:nvGrpSpPr>
        <p:grpSpPr>
          <a:xfrm rot="0">
            <a:off x="5560898" y="954378"/>
            <a:ext cx="11698402" cy="1618834"/>
            <a:chOff x="0" y="0"/>
            <a:chExt cx="15597869" cy="2158445"/>
          </a:xfrm>
        </p:grpSpPr>
        <p:sp>
          <p:nvSpPr>
            <p:cNvPr name="TextBox 13" id="13"/>
            <p:cNvSpPr txBox="true"/>
            <p:nvPr/>
          </p:nvSpPr>
          <p:spPr>
            <a:xfrm rot="0">
              <a:off x="0" y="1447458"/>
              <a:ext cx="15597869" cy="710987"/>
            </a:xfrm>
            <a:prstGeom prst="rect">
              <a:avLst/>
            </a:prstGeom>
          </p:spPr>
          <p:txBody>
            <a:bodyPr anchor="t" rtlCol="false" tIns="0" lIns="0" bIns="0" rIns="0">
              <a:spAutoFit/>
            </a:bodyPr>
            <a:lstStyle/>
            <a:p>
              <a:pPr algn="l" marL="0" indent="0" lvl="0">
                <a:lnSpc>
                  <a:spcPts val="2240"/>
                </a:lnSpc>
              </a:pPr>
              <a:r>
                <a:rPr lang="en-US" sz="1600">
                  <a:solidFill>
                    <a:srgbClr val="000000"/>
                  </a:solidFill>
                  <a:latin typeface="Open Sauce"/>
                  <a:ea typeface="Open Sauce"/>
                  <a:cs typeface="Open Sauce"/>
                  <a:sym typeface="Open Sauce"/>
                </a:rPr>
                <a:t>Our analysis reveals </a:t>
              </a:r>
              <a:r>
                <a:rPr lang="en-US" b="true" sz="1600">
                  <a:solidFill>
                    <a:srgbClr val="000000"/>
                  </a:solidFill>
                  <a:latin typeface="Open Sauce Bold"/>
                  <a:ea typeface="Open Sauce Bold"/>
                  <a:cs typeface="Open Sauce Bold"/>
                  <a:sym typeface="Open Sauce Bold"/>
                </a:rPr>
                <a:t>significant trends</a:t>
              </a:r>
              <a:r>
                <a:rPr lang="en-US" sz="1600">
                  <a:solidFill>
                    <a:srgbClr val="000000"/>
                  </a:solidFill>
                  <a:latin typeface="Open Sauce"/>
                  <a:ea typeface="Open Sauce"/>
                  <a:cs typeface="Open Sauce"/>
                  <a:sym typeface="Open Sauce"/>
                </a:rPr>
                <a:t> in job availability across various sectors, highlighting areas for potential growth and informing </a:t>
              </a:r>
              <a:r>
                <a:rPr lang="en-US" b="true" sz="1600">
                  <a:solidFill>
                    <a:srgbClr val="000000"/>
                  </a:solidFill>
                  <a:latin typeface="Open Sauce Bold"/>
                  <a:ea typeface="Open Sauce Bold"/>
                  <a:cs typeface="Open Sauce Bold"/>
                  <a:sym typeface="Open Sauce Bold"/>
                </a:rPr>
                <a:t>strategic decisions</a:t>
              </a:r>
              <a:r>
                <a:rPr lang="en-US" sz="1600">
                  <a:solidFill>
                    <a:srgbClr val="000000"/>
                  </a:solidFill>
                  <a:latin typeface="Open Sauce"/>
                  <a:ea typeface="Open Sauce"/>
                  <a:cs typeface="Open Sauce"/>
                  <a:sym typeface="Open Sauce"/>
                </a:rPr>
                <a:t> for workforce development initiatives in NYC.</a:t>
              </a:r>
            </a:p>
          </p:txBody>
        </p:sp>
        <p:sp>
          <p:nvSpPr>
            <p:cNvPr name="TextBox 14" id="14"/>
            <p:cNvSpPr txBox="true"/>
            <p:nvPr/>
          </p:nvSpPr>
          <p:spPr>
            <a:xfrm rot="0">
              <a:off x="0" y="-47625"/>
              <a:ext cx="15597869" cy="1014349"/>
            </a:xfrm>
            <a:prstGeom prst="rect">
              <a:avLst/>
            </a:prstGeom>
          </p:spPr>
          <p:txBody>
            <a:bodyPr anchor="t" rtlCol="false" tIns="0" lIns="0" bIns="0" rIns="0">
              <a:spAutoFit/>
            </a:bodyPr>
            <a:lstStyle/>
            <a:p>
              <a:pPr algn="l" marL="0" indent="0" lvl="0">
                <a:lnSpc>
                  <a:spcPts val="5376"/>
                </a:lnSpc>
                <a:spcBef>
                  <a:spcPct val="0"/>
                </a:spcBef>
              </a:pPr>
              <a:r>
                <a:rPr lang="en-US" sz="4800" strike="noStrike" u="none">
                  <a:solidFill>
                    <a:srgbClr val="000000"/>
                  </a:solidFill>
                  <a:latin typeface="Chunk Five"/>
                  <a:ea typeface="Chunk Five"/>
                  <a:cs typeface="Chunk Five"/>
                  <a:sym typeface="Chunk Five"/>
                </a:rPr>
                <a:t>Key Insights from Data Analysis</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295385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414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699441" y="1028700"/>
            <a:ext cx="8531125" cy="4265563"/>
          </a:xfrm>
          <a:custGeom>
            <a:avLst/>
            <a:gdLst/>
            <a:ahLst/>
            <a:cxnLst/>
            <a:rect r="r" b="b" t="t" l="l"/>
            <a:pathLst>
              <a:path h="4265563" w="8531125">
                <a:moveTo>
                  <a:pt x="0" y="0"/>
                </a:moveTo>
                <a:lnTo>
                  <a:pt x="8531125" y="0"/>
                </a:lnTo>
                <a:lnTo>
                  <a:pt x="8531125" y="4265563"/>
                </a:lnTo>
                <a:lnTo>
                  <a:pt x="0" y="4265563"/>
                </a:lnTo>
                <a:lnTo>
                  <a:pt x="0" y="0"/>
                </a:lnTo>
                <a:close/>
              </a:path>
            </a:pathLst>
          </a:custGeom>
          <a:blipFill>
            <a:blip r:embed="rId4"/>
            <a:stretch>
              <a:fillRect l="0" t="0" r="0" b="0"/>
            </a:stretch>
          </a:blipFill>
        </p:spPr>
      </p:sp>
      <p:sp>
        <p:nvSpPr>
          <p:cNvPr name="Freeform 5" id="5"/>
          <p:cNvSpPr/>
          <p:nvPr/>
        </p:nvSpPr>
        <p:spPr>
          <a:xfrm flipH="false" flipV="false" rot="0">
            <a:off x="1028700" y="5180509"/>
            <a:ext cx="8155582" cy="4077791"/>
          </a:xfrm>
          <a:custGeom>
            <a:avLst/>
            <a:gdLst/>
            <a:ahLst/>
            <a:cxnLst/>
            <a:rect r="r" b="b" t="t" l="l"/>
            <a:pathLst>
              <a:path h="4077791" w="8155582">
                <a:moveTo>
                  <a:pt x="0" y="0"/>
                </a:moveTo>
                <a:lnTo>
                  <a:pt x="8155582" y="0"/>
                </a:lnTo>
                <a:lnTo>
                  <a:pt x="8155582" y="4077791"/>
                </a:lnTo>
                <a:lnTo>
                  <a:pt x="0" y="4077791"/>
                </a:lnTo>
                <a:lnTo>
                  <a:pt x="0" y="0"/>
                </a:lnTo>
                <a:close/>
              </a:path>
            </a:pathLst>
          </a:custGeom>
          <a:blipFill>
            <a:blip r:embed="rId5"/>
            <a:stretch>
              <a:fillRect l="0" t="0" r="0" b="0"/>
            </a:stretch>
          </a:blipFill>
        </p:spPr>
      </p:sp>
      <p:sp>
        <p:nvSpPr>
          <p:cNvPr name="Freeform 6" id="6"/>
          <p:cNvSpPr/>
          <p:nvPr/>
        </p:nvSpPr>
        <p:spPr>
          <a:xfrm flipH="false" flipV="false" rot="0">
            <a:off x="2028987" y="1486440"/>
            <a:ext cx="5348144" cy="3242247"/>
          </a:xfrm>
          <a:custGeom>
            <a:avLst/>
            <a:gdLst/>
            <a:ahLst/>
            <a:cxnLst/>
            <a:rect r="r" b="b" t="t" l="l"/>
            <a:pathLst>
              <a:path h="3242247" w="5348144">
                <a:moveTo>
                  <a:pt x="0" y="0"/>
                </a:moveTo>
                <a:lnTo>
                  <a:pt x="5348144" y="0"/>
                </a:lnTo>
                <a:lnTo>
                  <a:pt x="5348144" y="3242247"/>
                </a:lnTo>
                <a:lnTo>
                  <a:pt x="0" y="3242247"/>
                </a:lnTo>
                <a:lnTo>
                  <a:pt x="0" y="0"/>
                </a:lnTo>
                <a:close/>
              </a:path>
            </a:pathLst>
          </a:custGeom>
          <a:blipFill>
            <a:blip r:embed="rId6"/>
            <a:stretch>
              <a:fillRect l="0" t="0" r="0" b="0"/>
            </a:stretch>
          </a:blipFill>
        </p:spPr>
      </p:sp>
      <p:sp>
        <p:nvSpPr>
          <p:cNvPr name="Freeform 7" id="7"/>
          <p:cNvSpPr/>
          <p:nvPr/>
        </p:nvSpPr>
        <p:spPr>
          <a:xfrm flipH="false" flipV="false" rot="0">
            <a:off x="10804023" y="6200504"/>
            <a:ext cx="5283028" cy="2338209"/>
          </a:xfrm>
          <a:custGeom>
            <a:avLst/>
            <a:gdLst/>
            <a:ahLst/>
            <a:cxnLst/>
            <a:rect r="r" b="b" t="t" l="l"/>
            <a:pathLst>
              <a:path h="2338209" w="5283028">
                <a:moveTo>
                  <a:pt x="0" y="0"/>
                </a:moveTo>
                <a:lnTo>
                  <a:pt x="5283028" y="0"/>
                </a:lnTo>
                <a:lnTo>
                  <a:pt x="5283028" y="2338208"/>
                </a:lnTo>
                <a:lnTo>
                  <a:pt x="0" y="2338208"/>
                </a:lnTo>
                <a:lnTo>
                  <a:pt x="0" y="0"/>
                </a:lnTo>
                <a:close/>
              </a:path>
            </a:pathLst>
          </a:custGeom>
          <a:blipFill>
            <a:blip r:embed="rId7"/>
            <a:stretch>
              <a:fillRect l="0" t="0" r="0" b="0"/>
            </a:stretch>
          </a:blipFill>
        </p:spPr>
      </p:sp>
      <p:sp>
        <p:nvSpPr>
          <p:cNvPr name="TextBox 8" id="8"/>
          <p:cNvSpPr txBox="true"/>
          <p:nvPr/>
        </p:nvSpPr>
        <p:spPr>
          <a:xfrm rot="0">
            <a:off x="2028987" y="1179023"/>
            <a:ext cx="5245596"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Open Sauce"/>
                <a:ea typeface="Open Sauce"/>
                <a:cs typeface="Open Sauce"/>
                <a:sym typeface="Open Sauce"/>
              </a:rPr>
              <a:t>Salary by agency and group, sorted by highest median salary</a:t>
            </a:r>
          </a:p>
        </p:txBody>
      </p:sp>
      <p:sp>
        <p:nvSpPr>
          <p:cNvPr name="TextBox 9" id="9"/>
          <p:cNvSpPr txBox="true"/>
          <p:nvPr/>
        </p:nvSpPr>
        <p:spPr>
          <a:xfrm rot="0">
            <a:off x="11701718" y="5900097"/>
            <a:ext cx="3487638"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Open Sauce"/>
                <a:ea typeface="Open Sauce"/>
                <a:cs typeface="Open Sauce"/>
                <a:sym typeface="Open Sauce"/>
              </a:rPr>
              <a:t>Median salary by career level and group </a:t>
            </a:r>
          </a:p>
        </p:txBody>
      </p:sp>
      <p:sp>
        <p:nvSpPr>
          <p:cNvPr name="TextBox 10" id="10"/>
          <p:cNvSpPr txBox="true"/>
          <p:nvPr/>
        </p:nvSpPr>
        <p:spPr>
          <a:xfrm rot="0">
            <a:off x="6322740" y="275852"/>
            <a:ext cx="5642521" cy="485775"/>
          </a:xfrm>
          <a:prstGeom prst="rect">
            <a:avLst/>
          </a:prstGeom>
        </p:spPr>
        <p:txBody>
          <a:bodyPr anchor="t" rtlCol="false" tIns="0" lIns="0" bIns="0" rIns="0">
            <a:spAutoFit/>
          </a:bodyPr>
          <a:lstStyle/>
          <a:p>
            <a:pPr algn="ctr">
              <a:lnSpc>
                <a:spcPts val="3359"/>
              </a:lnSpc>
              <a:spcBef>
                <a:spcPct val="0"/>
              </a:spcBef>
            </a:pPr>
            <a:r>
              <a:rPr lang="en-US" sz="2799">
                <a:solidFill>
                  <a:srgbClr val="000000"/>
                </a:solidFill>
                <a:latin typeface="Chunk Five"/>
                <a:ea typeface="Chunk Five"/>
                <a:cs typeface="Chunk Five"/>
                <a:sym typeface="Chunk Five"/>
              </a:rPr>
              <a:t>Key Insights from Data Analysis</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295385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5385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33414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33414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74834" y="646414"/>
            <a:ext cx="6905778" cy="4316111"/>
          </a:xfrm>
          <a:custGeom>
            <a:avLst/>
            <a:gdLst/>
            <a:ahLst/>
            <a:cxnLst/>
            <a:rect r="r" b="b" t="t" l="l"/>
            <a:pathLst>
              <a:path h="4316111" w="6905778">
                <a:moveTo>
                  <a:pt x="0" y="0"/>
                </a:moveTo>
                <a:lnTo>
                  <a:pt x="6905779" y="0"/>
                </a:lnTo>
                <a:lnTo>
                  <a:pt x="6905779" y="4316111"/>
                </a:lnTo>
                <a:lnTo>
                  <a:pt x="0" y="4316111"/>
                </a:lnTo>
                <a:lnTo>
                  <a:pt x="0" y="0"/>
                </a:lnTo>
                <a:close/>
              </a:path>
            </a:pathLst>
          </a:custGeom>
          <a:blipFill>
            <a:blip r:embed="rId4"/>
            <a:stretch>
              <a:fillRect l="0" t="0" r="0" b="0"/>
            </a:stretch>
          </a:blipFill>
        </p:spPr>
      </p:sp>
      <p:sp>
        <p:nvSpPr>
          <p:cNvPr name="Freeform 7" id="7"/>
          <p:cNvSpPr/>
          <p:nvPr/>
        </p:nvSpPr>
        <p:spPr>
          <a:xfrm flipH="false" flipV="false" rot="0">
            <a:off x="11656296" y="5548424"/>
            <a:ext cx="2666792" cy="3316098"/>
          </a:xfrm>
          <a:custGeom>
            <a:avLst/>
            <a:gdLst/>
            <a:ahLst/>
            <a:cxnLst/>
            <a:rect r="r" b="b" t="t" l="l"/>
            <a:pathLst>
              <a:path h="3316098" w="2666792">
                <a:moveTo>
                  <a:pt x="0" y="0"/>
                </a:moveTo>
                <a:lnTo>
                  <a:pt x="2666793" y="0"/>
                </a:lnTo>
                <a:lnTo>
                  <a:pt x="2666793" y="3316098"/>
                </a:lnTo>
                <a:lnTo>
                  <a:pt x="0" y="3316098"/>
                </a:lnTo>
                <a:lnTo>
                  <a:pt x="0" y="0"/>
                </a:lnTo>
                <a:close/>
              </a:path>
            </a:pathLst>
          </a:custGeom>
          <a:blipFill>
            <a:blip r:embed="rId5"/>
            <a:stretch>
              <a:fillRect l="0" t="0" r="0" b="0"/>
            </a:stretch>
          </a:blipFill>
        </p:spPr>
      </p:sp>
      <p:sp>
        <p:nvSpPr>
          <p:cNvPr name="Freeform 8" id="8"/>
          <p:cNvSpPr/>
          <p:nvPr/>
        </p:nvSpPr>
        <p:spPr>
          <a:xfrm flipH="false" flipV="false" rot="0">
            <a:off x="1966970" y="646414"/>
            <a:ext cx="7086689" cy="3311642"/>
          </a:xfrm>
          <a:custGeom>
            <a:avLst/>
            <a:gdLst/>
            <a:ahLst/>
            <a:cxnLst/>
            <a:rect r="r" b="b" t="t" l="l"/>
            <a:pathLst>
              <a:path h="3311642" w="7086689">
                <a:moveTo>
                  <a:pt x="0" y="0"/>
                </a:moveTo>
                <a:lnTo>
                  <a:pt x="7086689" y="0"/>
                </a:lnTo>
                <a:lnTo>
                  <a:pt x="7086689" y="3311642"/>
                </a:lnTo>
                <a:lnTo>
                  <a:pt x="0" y="3311642"/>
                </a:lnTo>
                <a:lnTo>
                  <a:pt x="0" y="0"/>
                </a:lnTo>
                <a:close/>
              </a:path>
            </a:pathLst>
          </a:custGeom>
          <a:blipFill>
            <a:blip r:embed="rId6"/>
            <a:stretch>
              <a:fillRect l="0" t="0" r="0" b="0"/>
            </a:stretch>
          </a:blipFill>
        </p:spPr>
      </p:sp>
      <p:sp>
        <p:nvSpPr>
          <p:cNvPr name="Freeform 9" id="9"/>
          <p:cNvSpPr/>
          <p:nvPr/>
        </p:nvSpPr>
        <p:spPr>
          <a:xfrm flipH="false" flipV="false" rot="0">
            <a:off x="1966970" y="4526884"/>
            <a:ext cx="7086689" cy="4801232"/>
          </a:xfrm>
          <a:custGeom>
            <a:avLst/>
            <a:gdLst/>
            <a:ahLst/>
            <a:cxnLst/>
            <a:rect r="r" b="b" t="t" l="l"/>
            <a:pathLst>
              <a:path h="4801232" w="7086689">
                <a:moveTo>
                  <a:pt x="0" y="0"/>
                </a:moveTo>
                <a:lnTo>
                  <a:pt x="7086689" y="0"/>
                </a:lnTo>
                <a:lnTo>
                  <a:pt x="7086689" y="4801232"/>
                </a:lnTo>
                <a:lnTo>
                  <a:pt x="0" y="4801232"/>
                </a:lnTo>
                <a:lnTo>
                  <a:pt x="0" y="0"/>
                </a:lnTo>
                <a:close/>
              </a:path>
            </a:pathLst>
          </a:custGeom>
          <a:blipFill>
            <a:blip r:embed="rId7"/>
            <a:stretch>
              <a:fillRect l="0" t="0" r="0" b="0"/>
            </a:stretch>
          </a:blipFill>
        </p:spPr>
      </p:sp>
      <p:sp>
        <p:nvSpPr>
          <p:cNvPr name="TextBox 10" id="10"/>
          <p:cNvSpPr txBox="true"/>
          <p:nvPr/>
        </p:nvSpPr>
        <p:spPr>
          <a:xfrm rot="0">
            <a:off x="11115053" y="9048750"/>
            <a:ext cx="3749278"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Open Sauce"/>
                <a:ea typeface="Open Sauce"/>
                <a:cs typeface="Open Sauce"/>
                <a:sym typeface="Open Sauce"/>
              </a:rPr>
              <a:t>data skills frequency across data skills jobs</a:t>
            </a:r>
          </a:p>
        </p:txBody>
      </p:sp>
      <p:sp>
        <p:nvSpPr>
          <p:cNvPr name="TextBox 11" id="11"/>
          <p:cNvSpPr txBox="true"/>
          <p:nvPr/>
        </p:nvSpPr>
        <p:spPr>
          <a:xfrm rot="0">
            <a:off x="1966970" y="4091808"/>
            <a:ext cx="6383089"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Open Sauce"/>
                <a:ea typeface="Open Sauce"/>
                <a:cs typeface="Open Sauce"/>
                <a:sym typeface="Open Sauce"/>
              </a:rPr>
              <a:t>metrics for top skills: number of postings, median salary, top hiring agency</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TextBox 2" id="2"/>
          <p:cNvSpPr txBox="true"/>
          <p:nvPr/>
        </p:nvSpPr>
        <p:spPr>
          <a:xfrm rot="0">
            <a:off x="4747475" y="292828"/>
            <a:ext cx="8793050" cy="902336"/>
          </a:xfrm>
          <a:prstGeom prst="rect">
            <a:avLst/>
          </a:prstGeom>
        </p:spPr>
        <p:txBody>
          <a:bodyPr anchor="t" rtlCol="false" tIns="0" lIns="0" bIns="0" rIns="0">
            <a:spAutoFit/>
          </a:bodyPr>
          <a:lstStyle/>
          <a:p>
            <a:pPr algn="ctr" marL="0" indent="0" lvl="0">
              <a:lnSpc>
                <a:spcPts val="5900"/>
              </a:lnSpc>
            </a:pPr>
            <a:r>
              <a:rPr lang="en-US" sz="5900">
                <a:solidFill>
                  <a:srgbClr val="000000"/>
                </a:solidFill>
                <a:latin typeface="Chunk Five"/>
                <a:ea typeface="Chunk Five"/>
                <a:cs typeface="Chunk Five"/>
                <a:sym typeface="Chunk Five"/>
              </a:rPr>
              <a:t>C</a:t>
            </a:r>
            <a:r>
              <a:rPr lang="en-US" sz="5900">
                <a:solidFill>
                  <a:srgbClr val="000000"/>
                </a:solidFill>
                <a:latin typeface="Chunk Five"/>
                <a:ea typeface="Chunk Five"/>
                <a:cs typeface="Chunk Five"/>
                <a:sym typeface="Chunk Five"/>
              </a:rPr>
              <a:t>onclusion &amp; Insights</a:t>
            </a:r>
          </a:p>
        </p:txBody>
      </p:sp>
      <p:sp>
        <p:nvSpPr>
          <p:cNvPr name="Freeform 3" id="3"/>
          <p:cNvSpPr/>
          <p:nvPr/>
        </p:nvSpPr>
        <p:spPr>
          <a:xfrm flipH="false" flipV="false" rot="0">
            <a:off x="-295385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5385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334145" y="-295385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334145" y="7333145"/>
            <a:ext cx="5907710" cy="5907710"/>
          </a:xfrm>
          <a:custGeom>
            <a:avLst/>
            <a:gdLst/>
            <a:ahLst/>
            <a:cxnLst/>
            <a:rect r="r" b="b" t="t" l="l"/>
            <a:pathLst>
              <a:path h="5907710" w="5907710">
                <a:moveTo>
                  <a:pt x="0" y="0"/>
                </a:moveTo>
                <a:lnTo>
                  <a:pt x="5907710" y="0"/>
                </a:lnTo>
                <a:lnTo>
                  <a:pt x="5907710" y="5907710"/>
                </a:lnTo>
                <a:lnTo>
                  <a:pt x="0" y="5907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28700" y="1623789"/>
            <a:ext cx="7275737" cy="1428750"/>
          </a:xfrm>
          <a:prstGeom prst="rect">
            <a:avLst/>
          </a:prstGeom>
        </p:spPr>
        <p:txBody>
          <a:bodyPr anchor="t" rtlCol="false" tIns="0" lIns="0" bIns="0" rIns="0">
            <a:spAutoFit/>
          </a:bodyPr>
          <a:lstStyle/>
          <a:p>
            <a:pPr algn="just">
              <a:lnSpc>
                <a:spcPts val="1920"/>
              </a:lnSpc>
              <a:spcBef>
                <a:spcPct val="0"/>
              </a:spcBef>
            </a:pPr>
            <a:r>
              <a:rPr lang="en-US" b="true" sz="1600">
                <a:solidFill>
                  <a:srgbClr val="000000"/>
                </a:solidFill>
                <a:latin typeface="Open Sauce Bold"/>
                <a:ea typeface="Open Sauce Bold"/>
                <a:cs typeface="Open Sauce Bold"/>
                <a:sym typeface="Open Sauce Bold"/>
              </a:rPr>
              <a:t>Data Skills Are in High Demand in NYC Government</a:t>
            </a:r>
          </a:p>
          <a:p>
            <a:pPr algn="just" marL="345441" indent="-172721" lvl="1">
              <a:lnSpc>
                <a:spcPts val="1920"/>
              </a:lnSpc>
              <a:buFont typeface="Arial"/>
              <a:buChar char="•"/>
            </a:pPr>
            <a:r>
              <a:rPr lang="en-US" sz="1600">
                <a:solidFill>
                  <a:srgbClr val="000000"/>
                </a:solidFill>
                <a:latin typeface="Open Sauce"/>
                <a:ea typeface="Open Sauce"/>
                <a:cs typeface="Open Sauce"/>
                <a:sym typeface="Open Sauce"/>
              </a:rPr>
              <a:t>Across all analyzed NYC government job postings, roles requiring data skills (SQL, Power BI, Tableau, Python, Oracle, etc.) are widespread.</a:t>
            </a:r>
          </a:p>
          <a:p>
            <a:pPr algn="just" marL="345441" indent="-172721" lvl="1">
              <a:lnSpc>
                <a:spcPts val="1920"/>
              </a:lnSpc>
              <a:buFont typeface="Arial"/>
              <a:buChar char="•"/>
            </a:pPr>
            <a:r>
              <a:rPr lang="en-US" sz="1600">
                <a:solidFill>
                  <a:srgbClr val="000000"/>
                </a:solidFill>
                <a:latin typeface="Open Sauce"/>
                <a:ea typeface="Open Sauce"/>
                <a:cs typeface="Open Sauce"/>
                <a:sym typeface="Open Sauce"/>
              </a:rPr>
              <a:t>Jobs specifically titled “Data Analyst/Engineer” and those with technical data skills collectively represent a substantial share of positions.</a:t>
            </a:r>
          </a:p>
        </p:txBody>
      </p:sp>
      <p:sp>
        <p:nvSpPr>
          <p:cNvPr name="TextBox 8" id="8"/>
          <p:cNvSpPr txBox="true"/>
          <p:nvPr/>
        </p:nvSpPr>
        <p:spPr>
          <a:xfrm rot="0">
            <a:off x="1028700" y="3705351"/>
            <a:ext cx="6418487" cy="1914525"/>
          </a:xfrm>
          <a:prstGeom prst="rect">
            <a:avLst/>
          </a:prstGeom>
        </p:spPr>
        <p:txBody>
          <a:bodyPr anchor="t" rtlCol="false" tIns="0" lIns="0" bIns="0" rIns="0">
            <a:spAutoFit/>
          </a:bodyPr>
          <a:lstStyle/>
          <a:p>
            <a:pPr algn="just">
              <a:lnSpc>
                <a:spcPts val="1919"/>
              </a:lnSpc>
              <a:spcBef>
                <a:spcPct val="0"/>
              </a:spcBef>
            </a:pPr>
            <a:r>
              <a:rPr lang="en-US" b="true" sz="1599">
                <a:solidFill>
                  <a:srgbClr val="000000"/>
                </a:solidFill>
                <a:latin typeface="Open Sauce Bold"/>
                <a:ea typeface="Open Sauce Bold"/>
                <a:cs typeface="Open Sauce Bold"/>
                <a:sym typeface="Open Sauce Bold"/>
              </a:rPr>
              <a:t>T</a:t>
            </a:r>
            <a:r>
              <a:rPr lang="en-US" b="true" sz="1599">
                <a:solidFill>
                  <a:srgbClr val="000000"/>
                </a:solidFill>
                <a:latin typeface="Open Sauce Bold"/>
                <a:ea typeface="Open Sauce Bold"/>
                <a:cs typeface="Open Sauce Bold"/>
                <a:sym typeface="Open Sauce Bold"/>
              </a:rPr>
              <a:t>op Requested Data Skills</a:t>
            </a:r>
          </a:p>
          <a:p>
            <a:pPr algn="just" marL="345439" indent="-172720" lvl="1">
              <a:lnSpc>
                <a:spcPts val="1919"/>
              </a:lnSpc>
              <a:buFont typeface="Arial"/>
              <a:buChar char="•"/>
            </a:pPr>
            <a:r>
              <a:rPr lang="en-US" b="true" sz="1599">
                <a:solidFill>
                  <a:srgbClr val="000000"/>
                </a:solidFill>
                <a:latin typeface="Open Sauce Bold"/>
                <a:ea typeface="Open Sauce Bold"/>
                <a:cs typeface="Open Sauce Bold"/>
                <a:sym typeface="Open Sauce Bold"/>
              </a:rPr>
              <a:t>SQL </a:t>
            </a:r>
            <a:r>
              <a:rPr lang="en-US" sz="1599">
                <a:solidFill>
                  <a:srgbClr val="000000"/>
                </a:solidFill>
                <a:latin typeface="Open Sauce"/>
                <a:ea typeface="Open Sauce"/>
                <a:cs typeface="Open Sauce"/>
                <a:sym typeface="Open Sauce"/>
              </a:rPr>
              <a:t>is the most requested skill, appearing in the majority of roles with data skills.</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Power BI, Tableau, Oracle, and Machine Learning also show significant demand, indicating agencies are investing in modern data platforms and analytics.</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Skills like AI, Pandas, and LLMs are emerging but comparatively rare.</a:t>
            </a:r>
          </a:p>
        </p:txBody>
      </p:sp>
      <p:sp>
        <p:nvSpPr>
          <p:cNvPr name="TextBox 9" id="9"/>
          <p:cNvSpPr txBox="true"/>
          <p:nvPr/>
        </p:nvSpPr>
        <p:spPr>
          <a:xfrm rot="0">
            <a:off x="9499332" y="1614264"/>
            <a:ext cx="7073182" cy="1676400"/>
          </a:xfrm>
          <a:prstGeom prst="rect">
            <a:avLst/>
          </a:prstGeom>
        </p:spPr>
        <p:txBody>
          <a:bodyPr anchor="t" rtlCol="false" tIns="0" lIns="0" bIns="0" rIns="0">
            <a:spAutoFit/>
          </a:bodyPr>
          <a:lstStyle/>
          <a:p>
            <a:pPr algn="just">
              <a:lnSpc>
                <a:spcPts val="1919"/>
              </a:lnSpc>
              <a:spcBef>
                <a:spcPct val="0"/>
              </a:spcBef>
            </a:pPr>
            <a:r>
              <a:rPr lang="en-US" b="true" sz="1599">
                <a:solidFill>
                  <a:srgbClr val="000000"/>
                </a:solidFill>
                <a:latin typeface="Open Sauce Bold"/>
                <a:ea typeface="Open Sauce Bold"/>
                <a:cs typeface="Open Sauce Bold"/>
                <a:sym typeface="Open Sauce Bold"/>
              </a:rPr>
              <a:t>Salary Landscape</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Median salaries for data roles and jobs with data skills are both around </a:t>
            </a:r>
            <a:r>
              <a:rPr lang="en-US" b="true" sz="1599">
                <a:solidFill>
                  <a:srgbClr val="000000"/>
                </a:solidFill>
                <a:latin typeface="Open Sauce Bold"/>
                <a:ea typeface="Open Sauce Bold"/>
                <a:cs typeface="Open Sauce Bold"/>
                <a:sym typeface="Open Sauce Bold"/>
              </a:rPr>
              <a:t>$82,500</a:t>
            </a:r>
            <a:r>
              <a:rPr lang="en-US" sz="1599">
                <a:solidFill>
                  <a:srgbClr val="000000"/>
                </a:solidFill>
                <a:latin typeface="Open Sauce"/>
                <a:ea typeface="Open Sauce"/>
                <a:cs typeface="Open Sauce"/>
                <a:sym typeface="Open Sauce"/>
              </a:rPr>
              <a:t>, significantly higher than median salaries for other roles.</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Agencies hiring for data roles tend to offer competitive compensation, with some positions exceeding $130,000–$160,000 for advanced skills and seniority.</a:t>
            </a:r>
          </a:p>
        </p:txBody>
      </p:sp>
      <p:sp>
        <p:nvSpPr>
          <p:cNvPr name="TextBox 10" id="10"/>
          <p:cNvSpPr txBox="true"/>
          <p:nvPr/>
        </p:nvSpPr>
        <p:spPr>
          <a:xfrm rot="0">
            <a:off x="10356582" y="3705351"/>
            <a:ext cx="6215932" cy="2152650"/>
          </a:xfrm>
          <a:prstGeom prst="rect">
            <a:avLst/>
          </a:prstGeom>
        </p:spPr>
        <p:txBody>
          <a:bodyPr anchor="t" rtlCol="false" tIns="0" lIns="0" bIns="0" rIns="0">
            <a:spAutoFit/>
          </a:bodyPr>
          <a:lstStyle/>
          <a:p>
            <a:pPr algn="just">
              <a:lnSpc>
                <a:spcPts val="1919"/>
              </a:lnSpc>
              <a:spcBef>
                <a:spcPct val="0"/>
              </a:spcBef>
            </a:pPr>
            <a:r>
              <a:rPr lang="en-US" sz="1599">
                <a:solidFill>
                  <a:srgbClr val="000000"/>
                </a:solidFill>
                <a:latin typeface="Open Sauce"/>
                <a:ea typeface="Open Sauce"/>
                <a:cs typeface="Open Sauce"/>
                <a:sym typeface="Open Sauce"/>
              </a:rPr>
              <a:t>T</a:t>
            </a:r>
            <a:r>
              <a:rPr lang="en-US" b="true" sz="1599">
                <a:solidFill>
                  <a:srgbClr val="000000"/>
                </a:solidFill>
                <a:latin typeface="Open Sauce Bold"/>
                <a:ea typeface="Open Sauce Bold"/>
                <a:cs typeface="Open Sauce Bold"/>
                <a:sym typeface="Open Sauce Bold"/>
              </a:rPr>
              <a:t>op Hiring Agencies</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Agencies most actively hiring for data roles include:</a:t>
            </a:r>
          </a:p>
          <a:p>
            <a:pPr algn="just" marL="690879" indent="-230293" lvl="2">
              <a:lnSpc>
                <a:spcPts val="1919"/>
              </a:lnSpc>
              <a:buFont typeface="Arial"/>
              <a:buChar char="⚬"/>
            </a:pPr>
            <a:r>
              <a:rPr lang="en-US" sz="1599">
                <a:solidFill>
                  <a:srgbClr val="000000"/>
                </a:solidFill>
                <a:latin typeface="Open Sauce"/>
                <a:ea typeface="Open Sauce"/>
                <a:cs typeface="Open Sauce"/>
                <a:sym typeface="Open Sauce"/>
              </a:rPr>
              <a:t>Department of Environmental Protection</a:t>
            </a:r>
          </a:p>
          <a:p>
            <a:pPr algn="just" marL="690879" indent="-230293" lvl="2">
              <a:lnSpc>
                <a:spcPts val="1919"/>
              </a:lnSpc>
              <a:buFont typeface="Arial"/>
              <a:buChar char="⚬"/>
            </a:pPr>
            <a:r>
              <a:rPr lang="en-US" sz="1599">
                <a:solidFill>
                  <a:srgbClr val="000000"/>
                </a:solidFill>
                <a:latin typeface="Open Sauce"/>
                <a:ea typeface="Open Sauce"/>
                <a:cs typeface="Open Sauce"/>
                <a:sym typeface="Open Sauce"/>
              </a:rPr>
              <a:t>Bronx District Attorney</a:t>
            </a:r>
          </a:p>
          <a:p>
            <a:pPr algn="just" marL="690879" indent="-230293" lvl="2">
              <a:lnSpc>
                <a:spcPts val="1919"/>
              </a:lnSpc>
              <a:buFont typeface="Arial"/>
              <a:buChar char="⚬"/>
            </a:pPr>
            <a:r>
              <a:rPr lang="en-US" sz="1599">
                <a:solidFill>
                  <a:srgbClr val="000000"/>
                </a:solidFill>
                <a:latin typeface="Open Sauce"/>
                <a:ea typeface="Open Sauce"/>
                <a:cs typeface="Open Sauce"/>
                <a:sym typeface="Open Sauce"/>
              </a:rPr>
              <a:t>Department of Transportation</a:t>
            </a:r>
          </a:p>
          <a:p>
            <a:pPr algn="just" marL="690879" indent="-230293" lvl="2">
              <a:lnSpc>
                <a:spcPts val="1919"/>
              </a:lnSpc>
              <a:buFont typeface="Arial"/>
              <a:buChar char="⚬"/>
            </a:pPr>
            <a:r>
              <a:rPr lang="en-US" sz="1599">
                <a:solidFill>
                  <a:srgbClr val="000000"/>
                </a:solidFill>
                <a:latin typeface="Open Sauce"/>
                <a:ea typeface="Open Sauce"/>
                <a:cs typeface="Open Sauce"/>
                <a:sym typeface="Open Sauce"/>
              </a:rPr>
              <a:t>Housing Authority</a:t>
            </a:r>
          </a:p>
          <a:p>
            <a:pPr algn="just" marL="690879" indent="-230293" lvl="2">
              <a:lnSpc>
                <a:spcPts val="1919"/>
              </a:lnSpc>
              <a:buFont typeface="Arial"/>
              <a:buChar char="⚬"/>
            </a:pPr>
            <a:r>
              <a:rPr lang="en-US" sz="1599">
                <a:solidFill>
                  <a:srgbClr val="000000"/>
                </a:solidFill>
                <a:latin typeface="Open Sauce"/>
                <a:ea typeface="Open Sauce"/>
                <a:cs typeface="Open Sauce"/>
                <a:sym typeface="Open Sauce"/>
              </a:rPr>
              <a:t>Department of Design and Construction</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These agencies together account for the largest share of open positions for Data Analysts/Engineers.</a:t>
            </a:r>
          </a:p>
        </p:txBody>
      </p:sp>
      <p:sp>
        <p:nvSpPr>
          <p:cNvPr name="TextBox 11" id="11"/>
          <p:cNvSpPr txBox="true"/>
          <p:nvPr/>
        </p:nvSpPr>
        <p:spPr>
          <a:xfrm rot="0">
            <a:off x="9499332" y="6352149"/>
            <a:ext cx="7073182" cy="1200150"/>
          </a:xfrm>
          <a:prstGeom prst="rect">
            <a:avLst/>
          </a:prstGeom>
        </p:spPr>
        <p:txBody>
          <a:bodyPr anchor="t" rtlCol="false" tIns="0" lIns="0" bIns="0" rIns="0">
            <a:spAutoFit/>
          </a:bodyPr>
          <a:lstStyle/>
          <a:p>
            <a:pPr algn="just">
              <a:lnSpc>
                <a:spcPts val="1919"/>
              </a:lnSpc>
              <a:spcBef>
                <a:spcPct val="0"/>
              </a:spcBef>
            </a:pPr>
            <a:r>
              <a:rPr lang="en-US" b="true" sz="1599">
                <a:solidFill>
                  <a:srgbClr val="000000"/>
                </a:solidFill>
                <a:latin typeface="Open Sauce Bold"/>
                <a:ea typeface="Open Sauce Bold"/>
                <a:cs typeface="Open Sauce Bold"/>
                <a:sym typeface="Open Sauce Bold"/>
              </a:rPr>
              <a:t>Skill, Salary, and Agency Relationships</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Agencies with a high volume of postings are also those offering higher median salaries for data roles.</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The strongest salary offers are found in agencies like the Department of Finance and the Department of City Planning.</a:t>
            </a:r>
          </a:p>
        </p:txBody>
      </p:sp>
      <p:sp>
        <p:nvSpPr>
          <p:cNvPr name="TextBox 12" id="12"/>
          <p:cNvSpPr txBox="true"/>
          <p:nvPr/>
        </p:nvSpPr>
        <p:spPr>
          <a:xfrm rot="0">
            <a:off x="1028700" y="6352149"/>
            <a:ext cx="7275737" cy="1200150"/>
          </a:xfrm>
          <a:prstGeom prst="rect">
            <a:avLst/>
          </a:prstGeom>
        </p:spPr>
        <p:txBody>
          <a:bodyPr anchor="t" rtlCol="false" tIns="0" lIns="0" bIns="0" rIns="0">
            <a:spAutoFit/>
          </a:bodyPr>
          <a:lstStyle/>
          <a:p>
            <a:pPr algn="just">
              <a:lnSpc>
                <a:spcPts val="1919"/>
              </a:lnSpc>
              <a:spcBef>
                <a:spcPct val="0"/>
              </a:spcBef>
            </a:pPr>
            <a:r>
              <a:rPr lang="en-US" b="true" sz="1599">
                <a:solidFill>
                  <a:srgbClr val="000000"/>
                </a:solidFill>
                <a:latin typeface="Open Sauce Bold"/>
                <a:ea typeface="Open Sauce Bold"/>
                <a:cs typeface="Open Sauce Bold"/>
                <a:sym typeface="Open Sauce Bold"/>
              </a:rPr>
              <a:t>Job Trends Over Time</a:t>
            </a:r>
          </a:p>
          <a:p>
            <a:pPr algn="just" marL="345439" indent="-172720" lvl="1">
              <a:lnSpc>
                <a:spcPts val="1919"/>
              </a:lnSpc>
              <a:buFont typeface="Arial"/>
              <a:buChar char="•"/>
            </a:pPr>
            <a:r>
              <a:rPr lang="en-US" sz="1599">
                <a:solidFill>
                  <a:srgbClr val="000000"/>
                </a:solidFill>
                <a:latin typeface="Open Sauce"/>
                <a:ea typeface="Open Sauce"/>
                <a:cs typeface="Open Sauce"/>
                <a:sym typeface="Open Sauce"/>
              </a:rPr>
              <a:t>Both the number of postings for Data Analyst/Engineer roles and broader jobs with data skills have shown steady growth month-on-month, indicating increasing investment in data capabilities across NYC government.</a:t>
            </a:r>
          </a:p>
        </p:txBody>
      </p:sp>
      <p:sp>
        <p:nvSpPr>
          <p:cNvPr name="TextBox 13" id="13"/>
          <p:cNvSpPr txBox="true"/>
          <p:nvPr/>
        </p:nvSpPr>
        <p:spPr>
          <a:xfrm rot="0">
            <a:off x="6202789" y="7980924"/>
            <a:ext cx="6593086" cy="1543050"/>
          </a:xfrm>
          <a:prstGeom prst="rect">
            <a:avLst/>
          </a:prstGeom>
        </p:spPr>
        <p:txBody>
          <a:bodyPr anchor="t" rtlCol="false" tIns="0" lIns="0" bIns="0" rIns="0">
            <a:spAutoFit/>
          </a:bodyPr>
          <a:lstStyle/>
          <a:p>
            <a:pPr algn="just">
              <a:lnSpc>
                <a:spcPts val="2039"/>
              </a:lnSpc>
              <a:spcBef>
                <a:spcPct val="0"/>
              </a:spcBef>
            </a:pPr>
            <a:r>
              <a:rPr lang="en-US" b="true" sz="1699">
                <a:solidFill>
                  <a:srgbClr val="000000"/>
                </a:solidFill>
                <a:latin typeface="Open Sauce Bold"/>
                <a:ea typeface="Open Sauce Bold"/>
                <a:cs typeface="Open Sauce Bold"/>
                <a:sym typeface="Open Sauce Bold"/>
              </a:rPr>
              <a:t>Summary Table Highlights</a:t>
            </a:r>
          </a:p>
          <a:p>
            <a:pPr algn="just" marL="367029" indent="-183514" lvl="1">
              <a:lnSpc>
                <a:spcPts val="2039"/>
              </a:lnSpc>
              <a:buFont typeface="Arial"/>
              <a:buChar char="•"/>
            </a:pPr>
            <a:r>
              <a:rPr lang="en-US" b="true" sz="1699">
                <a:solidFill>
                  <a:srgbClr val="000000"/>
                </a:solidFill>
                <a:latin typeface="Open Sauce Bold"/>
                <a:ea typeface="Open Sauce Bold"/>
                <a:cs typeface="Open Sauce Bold"/>
                <a:sym typeface="Open Sauce Bold"/>
              </a:rPr>
              <a:t>Total Data Analyst/Engineer Roles: </a:t>
            </a:r>
            <a:r>
              <a:rPr lang="en-US" sz="1699">
                <a:solidFill>
                  <a:srgbClr val="000000"/>
                </a:solidFill>
                <a:latin typeface="Open Sauce"/>
                <a:ea typeface="Open Sauce"/>
                <a:cs typeface="Open Sauce"/>
                <a:sym typeface="Open Sauce"/>
              </a:rPr>
              <a:t>73</a:t>
            </a:r>
          </a:p>
          <a:p>
            <a:pPr algn="just" marL="367029" indent="-183514" lvl="1">
              <a:lnSpc>
                <a:spcPts val="2039"/>
              </a:lnSpc>
              <a:buFont typeface="Arial"/>
              <a:buChar char="•"/>
            </a:pPr>
            <a:r>
              <a:rPr lang="en-US" b="true" sz="1699">
                <a:solidFill>
                  <a:srgbClr val="000000"/>
                </a:solidFill>
                <a:latin typeface="Open Sauce Bold"/>
                <a:ea typeface="Open Sauce Bold"/>
                <a:cs typeface="Open Sauce Bold"/>
                <a:sym typeface="Open Sauce Bold"/>
              </a:rPr>
              <a:t>Jobs With Data Skills:</a:t>
            </a:r>
            <a:r>
              <a:rPr lang="en-US" sz="1699">
                <a:solidFill>
                  <a:srgbClr val="000000"/>
                </a:solidFill>
                <a:latin typeface="Open Sauce"/>
                <a:ea typeface="Open Sauce"/>
                <a:cs typeface="Open Sauce"/>
                <a:sym typeface="Open Sauce"/>
              </a:rPr>
              <a:t> 213</a:t>
            </a:r>
          </a:p>
          <a:p>
            <a:pPr algn="just" marL="367029" indent="-183514" lvl="1">
              <a:lnSpc>
                <a:spcPts val="2039"/>
              </a:lnSpc>
              <a:buFont typeface="Arial"/>
              <a:buChar char="•"/>
            </a:pPr>
            <a:r>
              <a:rPr lang="en-US" sz="1699">
                <a:solidFill>
                  <a:srgbClr val="000000"/>
                </a:solidFill>
                <a:latin typeface="Open Sauce"/>
                <a:ea typeface="Open Sauce"/>
                <a:cs typeface="Open Sauce"/>
                <a:sym typeface="Open Sauce"/>
              </a:rPr>
              <a:t>T</a:t>
            </a:r>
            <a:r>
              <a:rPr lang="en-US" b="true" sz="1699">
                <a:solidFill>
                  <a:srgbClr val="000000"/>
                </a:solidFill>
                <a:latin typeface="Open Sauce Bold"/>
                <a:ea typeface="Open Sauce Bold"/>
                <a:cs typeface="Open Sauce Bold"/>
                <a:sym typeface="Open Sauce Bold"/>
              </a:rPr>
              <a:t>op Skill:</a:t>
            </a:r>
            <a:r>
              <a:rPr lang="en-US" sz="1699">
                <a:solidFill>
                  <a:srgbClr val="000000"/>
                </a:solidFill>
                <a:latin typeface="Open Sauce"/>
                <a:ea typeface="Open Sauce"/>
                <a:cs typeface="Open Sauce"/>
                <a:sym typeface="Open Sauce"/>
              </a:rPr>
              <a:t> SQL</a:t>
            </a:r>
          </a:p>
          <a:p>
            <a:pPr algn="just" marL="367029" indent="-183514" lvl="1">
              <a:lnSpc>
                <a:spcPts val="2039"/>
              </a:lnSpc>
              <a:buFont typeface="Arial"/>
              <a:buChar char="•"/>
            </a:pPr>
            <a:r>
              <a:rPr lang="en-US" b="true" sz="1699">
                <a:solidFill>
                  <a:srgbClr val="000000"/>
                </a:solidFill>
                <a:latin typeface="Open Sauce Bold"/>
                <a:ea typeface="Open Sauce Bold"/>
                <a:cs typeface="Open Sauce Bold"/>
                <a:sym typeface="Open Sauce Bold"/>
              </a:rPr>
              <a:t>Top Hiring Agency: </a:t>
            </a:r>
            <a:r>
              <a:rPr lang="en-US" sz="1699">
                <a:solidFill>
                  <a:srgbClr val="000000"/>
                </a:solidFill>
                <a:latin typeface="Open Sauce"/>
                <a:ea typeface="Open Sauce"/>
                <a:cs typeface="Open Sauce"/>
                <a:sym typeface="Open Sauce"/>
              </a:rPr>
              <a:t>Department of Environmental Protection</a:t>
            </a:r>
          </a:p>
          <a:p>
            <a:pPr algn="just" marL="367029" indent="-183514" lvl="1">
              <a:lnSpc>
                <a:spcPts val="2039"/>
              </a:lnSpc>
              <a:buFont typeface="Arial"/>
              <a:buChar char="•"/>
            </a:pPr>
            <a:r>
              <a:rPr lang="en-US" b="true" sz="1699">
                <a:solidFill>
                  <a:srgbClr val="000000"/>
                </a:solidFill>
                <a:latin typeface="Open Sauce Bold"/>
                <a:ea typeface="Open Sauce Bold"/>
                <a:cs typeface="Open Sauce Bold"/>
                <a:sym typeface="Open Sauce Bold"/>
              </a:rPr>
              <a:t>Median Salary (Data Analyst &amp; Data Skills):</a:t>
            </a:r>
            <a:r>
              <a:rPr lang="en-US" sz="1699">
                <a:solidFill>
                  <a:srgbClr val="000000"/>
                </a:solidFill>
                <a:latin typeface="Open Sauce"/>
                <a:ea typeface="Open Sauce"/>
                <a:cs typeface="Open Sauce"/>
                <a:sym typeface="Open Sauce"/>
              </a:rPr>
              <a:t> $82,500</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809875"/>
            <a:ext cx="7264815" cy="6334125"/>
          </a:xfrm>
          <a:prstGeom prst="rect">
            <a:avLst/>
          </a:prstGeom>
        </p:spPr>
        <p:txBody>
          <a:bodyPr anchor="t" rtlCol="false" tIns="0" lIns="0" bIns="0" rIns="0">
            <a:spAutoFit/>
          </a:bodyPr>
          <a:lstStyle/>
          <a:p>
            <a:pPr algn="l">
              <a:lnSpc>
                <a:spcPts val="3900"/>
              </a:lnSpc>
            </a:pPr>
          </a:p>
          <a:p>
            <a:pPr algn="l">
              <a:lnSpc>
                <a:spcPts val="3840"/>
              </a:lnSpc>
              <a:spcBef>
                <a:spcPct val="0"/>
              </a:spcBef>
            </a:pPr>
            <a:r>
              <a:rPr lang="en-US" sz="3200">
                <a:solidFill>
                  <a:srgbClr val="000000"/>
                </a:solidFill>
                <a:latin typeface="Open Sauce Light"/>
                <a:ea typeface="Open Sauce Light"/>
                <a:cs typeface="Open Sauce Light"/>
                <a:sym typeface="Open Sauce Light"/>
              </a:rPr>
              <a:t>NYC government is in</a:t>
            </a:r>
            <a:r>
              <a:rPr lang="en-US" sz="3200">
                <a:solidFill>
                  <a:srgbClr val="000000"/>
                </a:solidFill>
                <a:latin typeface="Open Sauce Light"/>
                <a:ea typeface="Open Sauce Light"/>
                <a:cs typeface="Open Sauce Light"/>
                <a:sym typeface="Open Sauce Light"/>
              </a:rPr>
              <a:t>vesting heavily in data talent and technical skills. There is clear evidence of robust hiring, strong salary offers, and a competitive landscape for data roles. For new graduates and entrepreneurs, this sector presents substantial opportunities to deliver value, drive digital transformation, and build partnerships with agencies at the forefront of data-driven public service.</a:t>
            </a:r>
          </a:p>
        </p:txBody>
      </p:sp>
      <p:sp>
        <p:nvSpPr>
          <p:cNvPr name="TextBox 4" id="4"/>
          <p:cNvSpPr txBox="true"/>
          <p:nvPr/>
        </p:nvSpPr>
        <p:spPr>
          <a:xfrm rot="0">
            <a:off x="1028700" y="942975"/>
            <a:ext cx="6719672" cy="723900"/>
          </a:xfrm>
          <a:prstGeom prst="rect">
            <a:avLst/>
          </a:prstGeom>
        </p:spPr>
        <p:txBody>
          <a:bodyPr anchor="t" rtlCol="false" tIns="0" lIns="0" bIns="0" rIns="0">
            <a:spAutoFit/>
          </a:bodyPr>
          <a:lstStyle/>
          <a:p>
            <a:pPr algn="ctr">
              <a:lnSpc>
                <a:spcPts val="5039"/>
              </a:lnSpc>
              <a:spcBef>
                <a:spcPct val="0"/>
              </a:spcBef>
            </a:pPr>
            <a:r>
              <a:rPr lang="en-US" sz="4199">
                <a:solidFill>
                  <a:srgbClr val="000000"/>
                </a:solidFill>
                <a:latin typeface="Chunk Five"/>
                <a:ea typeface="Chunk Five"/>
                <a:cs typeface="Chunk Five"/>
                <a:sym typeface="Chunk Five"/>
              </a:rPr>
              <a:t>Closing Message</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11222198" y="1028700"/>
            <a:ext cx="6037102" cy="4477700"/>
            <a:chOff x="0" y="0"/>
            <a:chExt cx="8049469" cy="5970266"/>
          </a:xfrm>
        </p:grpSpPr>
        <p:sp>
          <p:nvSpPr>
            <p:cNvPr name="TextBox 3" id="3"/>
            <p:cNvSpPr txBox="true"/>
            <p:nvPr/>
          </p:nvSpPr>
          <p:spPr>
            <a:xfrm rot="0">
              <a:off x="0" y="3234052"/>
              <a:ext cx="8049469" cy="2736214"/>
            </a:xfrm>
            <a:prstGeom prst="rect">
              <a:avLst/>
            </a:prstGeom>
          </p:spPr>
          <p:txBody>
            <a:bodyPr anchor="t" rtlCol="false" tIns="0" lIns="0" bIns="0" rIns="0">
              <a:spAutoFit/>
            </a:bodyPr>
            <a:lstStyle/>
            <a:p>
              <a:pPr algn="l" marL="0" indent="0" lvl="0">
                <a:lnSpc>
                  <a:spcPts val="2730"/>
                </a:lnSpc>
                <a:spcBef>
                  <a:spcPct val="0"/>
                </a:spcBef>
              </a:pPr>
              <a:r>
                <a:rPr lang="en-US" sz="2100" strike="noStrike" u="none">
                  <a:solidFill>
                    <a:srgbClr val="000000"/>
                  </a:solidFill>
                  <a:latin typeface="Open Sauce"/>
                  <a:ea typeface="Open Sauce"/>
                  <a:cs typeface="Open Sauce"/>
                  <a:sym typeface="Open Sauce"/>
                </a:rPr>
                <a:t>We appreciate your engagement and interest in our </a:t>
              </a:r>
              <a:r>
                <a:rPr lang="en-US" b="true" sz="2100" strike="noStrike" u="none">
                  <a:solidFill>
                    <a:srgbClr val="000000"/>
                  </a:solidFill>
                  <a:latin typeface="Open Sauce Bold"/>
                  <a:ea typeface="Open Sauce Bold"/>
                  <a:cs typeface="Open Sauce Bold"/>
                  <a:sym typeface="Open Sauce Bold"/>
                </a:rPr>
                <a:t>NYC Jobs Data Analysis</a:t>
              </a:r>
              <a:r>
                <a:rPr lang="en-US" sz="2100" strike="noStrike" u="none">
                  <a:solidFill>
                    <a:srgbClr val="000000"/>
                  </a:solidFill>
                  <a:latin typeface="Open Sauce"/>
                  <a:ea typeface="Open Sauce"/>
                  <a:cs typeface="Open Sauce"/>
                  <a:sym typeface="Open Sauce"/>
                </a:rPr>
                <a:t> project. We welcome any questions or feedback you may have as we strive to improve our understanding of the job market and its implications for the public sector.</a:t>
              </a:r>
            </a:p>
          </p:txBody>
        </p:sp>
        <p:sp>
          <p:nvSpPr>
            <p:cNvPr name="TextBox 4" id="4"/>
            <p:cNvSpPr txBox="true"/>
            <p:nvPr/>
          </p:nvSpPr>
          <p:spPr>
            <a:xfrm rot="0">
              <a:off x="0" y="-76200"/>
              <a:ext cx="8049469" cy="2654862"/>
            </a:xfrm>
            <a:prstGeom prst="rect">
              <a:avLst/>
            </a:prstGeom>
          </p:spPr>
          <p:txBody>
            <a:bodyPr anchor="t" rtlCol="false" tIns="0" lIns="0" bIns="0" rIns="0">
              <a:spAutoFit/>
            </a:bodyPr>
            <a:lstStyle/>
            <a:p>
              <a:pPr algn="l" marL="0" indent="0" lvl="0">
                <a:lnSpc>
                  <a:spcPts val="7396"/>
                </a:lnSpc>
                <a:spcBef>
                  <a:spcPct val="0"/>
                </a:spcBef>
              </a:pPr>
              <a:r>
                <a:rPr lang="en-US" sz="6603">
                  <a:solidFill>
                    <a:srgbClr val="000000"/>
                  </a:solidFill>
                  <a:latin typeface="Chunk Five"/>
                  <a:ea typeface="Chunk Five"/>
                  <a:cs typeface="Chunk Five"/>
                  <a:sym typeface="Chunk Five"/>
                </a:rPr>
                <a:t>Thank You for Your Attention</a:t>
              </a:r>
            </a:p>
          </p:txBody>
        </p:sp>
      </p:grpSp>
      <p:grpSp>
        <p:nvGrpSpPr>
          <p:cNvPr name="Group 5" id="5"/>
          <p:cNvGrpSpPr>
            <a:grpSpLocks noChangeAspect="true"/>
          </p:cNvGrpSpPr>
          <p:nvPr/>
        </p:nvGrpSpPr>
        <p:grpSpPr>
          <a:xfrm rot="0">
            <a:off x="533047" y="533047"/>
            <a:ext cx="9220906" cy="9220906"/>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solidFill>
              <a:srgbClr val="032859"/>
            </a:solidFill>
          </p:spPr>
        </p:sp>
        <p:sp>
          <p:nvSpPr>
            <p:cNvPr name="Freeform 7" id="7"/>
            <p:cNvSpPr/>
            <p:nvPr/>
          </p:nvSpPr>
          <p:spPr>
            <a:xfrm flipH="false" flipV="false" rot="0">
              <a:off x="227013" y="334588"/>
              <a:ext cx="5895974" cy="5627484"/>
            </a:xfrm>
            <a:custGeom>
              <a:avLst/>
              <a:gdLst/>
              <a:ahLst/>
              <a:cxnLst/>
              <a:rect r="r" b="b" t="t" l="l"/>
              <a:pathLst>
                <a:path h="5627484" w="5895974">
                  <a:moveTo>
                    <a:pt x="2947987" y="4502"/>
                  </a:moveTo>
                  <a:cubicBezTo>
                    <a:pt x="1941349" y="0"/>
                    <a:pt x="1009246" y="534452"/>
                    <a:pt x="504623" y="1405483"/>
                  </a:cubicBezTo>
                  <a:cubicBezTo>
                    <a:pt x="0" y="2276514"/>
                    <a:pt x="0" y="3350970"/>
                    <a:pt x="504623" y="4222001"/>
                  </a:cubicBezTo>
                  <a:cubicBezTo>
                    <a:pt x="1009246" y="5093033"/>
                    <a:pt x="1941349" y="5627484"/>
                    <a:pt x="2947987" y="5622982"/>
                  </a:cubicBezTo>
                  <a:cubicBezTo>
                    <a:pt x="3954625" y="5627484"/>
                    <a:pt x="4886728" y="5093033"/>
                    <a:pt x="5391351" y="4222001"/>
                  </a:cubicBezTo>
                  <a:cubicBezTo>
                    <a:pt x="5895974" y="3350970"/>
                    <a:pt x="5895974" y="2276514"/>
                    <a:pt x="5391351" y="1405483"/>
                  </a:cubicBezTo>
                  <a:cubicBezTo>
                    <a:pt x="4886728" y="534452"/>
                    <a:pt x="3954625" y="0"/>
                    <a:pt x="2947987" y="4502"/>
                  </a:cubicBezTo>
                  <a:close/>
                </a:path>
              </a:pathLst>
            </a:custGeom>
            <a:blipFill>
              <a:blip r:embed="rId2"/>
              <a:stretch>
                <a:fillRect l="-16369" t="0" r="-16369" b="0"/>
              </a:stretch>
            </a:blipFill>
          </p:spPr>
        </p:sp>
      </p:grpSp>
      <p:sp>
        <p:nvSpPr>
          <p:cNvPr name="Freeform 8" id="8"/>
          <p:cNvSpPr/>
          <p:nvPr/>
        </p:nvSpPr>
        <p:spPr>
          <a:xfrm flipH="false" flipV="false" rot="0">
            <a:off x="6584272" y="6738778"/>
            <a:ext cx="7096444" cy="7096444"/>
          </a:xfrm>
          <a:custGeom>
            <a:avLst/>
            <a:gdLst/>
            <a:ahLst/>
            <a:cxnLst/>
            <a:rect r="r" b="b" t="t" l="l"/>
            <a:pathLst>
              <a:path h="7096444" w="7096444">
                <a:moveTo>
                  <a:pt x="0" y="0"/>
                </a:moveTo>
                <a:lnTo>
                  <a:pt x="7096444" y="0"/>
                </a:lnTo>
                <a:lnTo>
                  <a:pt x="7096444" y="7096444"/>
                </a:lnTo>
                <a:lnTo>
                  <a:pt x="0" y="70964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NYC Jobs Data Analysis Project</dc:description>
  <dc:identifier>DAG0Ra3GTHo</dc:identifier>
  <dcterms:modified xsi:type="dcterms:W3CDTF">2011-08-01T06:04:30Z</dcterms:modified>
  <cp:revision>1</cp:revision>
  <dc:title>Presentation - NYC Jobs Data Analysis Project</dc:title>
</cp:coreProperties>
</file>